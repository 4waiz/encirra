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2" d="100"/>
          <a:sy n="42" d="100"/>
        </p:scale>
        <p:origin x="28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80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Conference identity and logo: user-supplied NEECON poster template.
Digital twin visualization: user-provided Encirra reference image.
Mathematical indicator definitions and evaluation design: newly authored for this poster; proposed metrics, not empirical results.
Pandapower: https://pandapower.readthedocs.io/
EPA WNTR: https://usepa.github.io/WNTR/
EPA EPANET: https://www.epa.gov/water-research/epanet
OR-Tools: https://developers.google.com/optimization
Author names and emails supplied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202310641@aau.ac.ae" TargetMode="External"/><Relationship Id="rId3" Type="http://schemas.openxmlformats.org/officeDocument/2006/relationships/image" Target="../media/image1.png"/><Relationship Id="rId7" Type="http://schemas.openxmlformats.org/officeDocument/2006/relationships/hyperlink" Target="mailto:202240077@aau.ac.ae" TargetMode="External"/><Relationship Id="rId12" Type="http://schemas.openxmlformats.org/officeDocument/2006/relationships/hyperlink" Target="https://kanbanstudios.ae/team-kanba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202310183@aau.ac.ae" TargetMode="External"/><Relationship Id="rId11" Type="http://schemas.openxmlformats.org/officeDocument/2006/relationships/image" Target="../media/image4.png"/><Relationship Id="rId5" Type="http://schemas.openxmlformats.org/officeDocument/2006/relationships/hyperlink" Target="mailto:hudamueen2407@gmail.com" TargetMode="External"/><Relationship Id="rId10" Type="http://schemas.openxmlformats.org/officeDocument/2006/relationships/hyperlink" Target="https://encirra.kanbanstudios.ae" TargetMode="External"/><Relationship Id="rId4" Type="http://schemas.openxmlformats.org/officeDocument/2006/relationships/image" Target="../media/image2.jpe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1874520"/>
          </a:xfrm>
          <a:prstGeom prst="rect">
            <a:avLst/>
          </a:prstGeom>
          <a:solidFill>
            <a:srgbClr val="E6F5F2"/>
          </a:solidFill>
          <a:ln w="12700">
            <a:solidFill>
              <a:srgbClr val="E6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" name="Shape 1"/>
          <p:cNvSpPr/>
          <p:nvPr/>
        </p:nvSpPr>
        <p:spPr>
          <a:xfrm>
            <a:off x="658368" y="365760"/>
            <a:ext cx="96012" cy="1143000"/>
          </a:xfrm>
          <a:prstGeom prst="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" name="Text 2"/>
          <p:cNvSpPr/>
          <p:nvPr/>
        </p:nvSpPr>
        <p:spPr>
          <a:xfrm>
            <a:off x="932688" y="310896"/>
            <a:ext cx="1819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kern="0" spc="25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INTERNATIONAL NEAR EAST CONFERENCE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32688" y="850392"/>
            <a:ext cx="18196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ELECTRICAL &amp; ENERGY SYSTEMS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32688" y="1362456"/>
            <a:ext cx="1819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21–23 OCTOBER 2026   •   DUBAI, UNITED ARAB EMIRATES</a:t>
            </a:r>
            <a:endParaRPr lang="en-US" dirty="0"/>
          </a:p>
        </p:txBody>
      </p:sp>
      <p:pic>
        <p:nvPicPr>
          <p:cNvPr id="7" name="Image 0" descr="/mnt/data/encirra_final_work/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3360" y="265176"/>
            <a:ext cx="1753440" cy="13533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862536" y="365760"/>
            <a:ext cx="0" cy="1143000"/>
          </a:xfrm>
          <a:prstGeom prst="line">
            <a:avLst/>
          </a:prstGeom>
          <a:noFill/>
          <a:ln w="25400">
            <a:solidFill>
              <a:srgbClr val="C8DE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pic>
        <p:nvPicPr>
          <p:cNvPr id="9" name="Image 1" descr="/mnt/data/encirra_final_work/assets/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0682" y="292608"/>
            <a:ext cx="1865476" cy="12893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1947672"/>
            <a:ext cx="30275784" cy="2999232"/>
          </a:xfrm>
          <a:prstGeom prst="rect">
            <a:avLst/>
          </a:prstGeom>
          <a:solidFill>
            <a:srgbClr val="0B2B43"/>
          </a:solidFill>
          <a:ln w="12700">
            <a:solidFill>
              <a:srgbClr val="0B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Shape 7"/>
          <p:cNvSpPr/>
          <p:nvPr/>
        </p:nvSpPr>
        <p:spPr>
          <a:xfrm>
            <a:off x="758952" y="2258568"/>
            <a:ext cx="146304" cy="2258568"/>
          </a:xfrm>
          <a:prstGeom prst="rect">
            <a:avLst/>
          </a:prstGeom>
          <a:solidFill>
            <a:srgbClr val="39B7D0"/>
          </a:solidFill>
          <a:ln w="12700">
            <a:solidFill>
              <a:srgbClr val="39B7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" name="Text 8"/>
          <p:cNvSpPr/>
          <p:nvPr/>
        </p:nvSpPr>
        <p:spPr>
          <a:xfrm>
            <a:off x="1060704" y="2331720"/>
            <a:ext cx="1408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500" b="1" kern="0" spc="-1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ENCIRRA</a:t>
            </a:r>
            <a:endParaRPr lang="en-US" sz="11500" dirty="0"/>
          </a:p>
        </p:txBody>
      </p:sp>
      <p:sp>
        <p:nvSpPr>
          <p:cNvPr id="13" name="Text 9"/>
          <p:cNvSpPr/>
          <p:nvPr/>
        </p:nvSpPr>
        <p:spPr>
          <a:xfrm>
            <a:off x="1097280" y="3767328"/>
            <a:ext cx="1435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BCDD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fault. Connected consequences. Verified recovery decisions.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15956280" y="2468880"/>
            <a:ext cx="0" cy="2039112"/>
          </a:xfrm>
          <a:prstGeom prst="line">
            <a:avLst/>
          </a:prstGeom>
          <a:noFill/>
          <a:ln w="27940">
            <a:solidFill>
              <a:srgbClr val="42637A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" name="Text 11"/>
          <p:cNvSpPr/>
          <p:nvPr/>
        </p:nvSpPr>
        <p:spPr>
          <a:xfrm>
            <a:off x="16596360" y="2523744"/>
            <a:ext cx="12664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Coupled Power + Water</a:t>
            </a:r>
            <a:endParaRPr lang="en-US" sz="4800" dirty="0"/>
          </a:p>
        </p:txBody>
      </p:sp>
      <p:sp>
        <p:nvSpPr>
          <p:cNvPr id="16" name="Text 12"/>
          <p:cNvSpPr/>
          <p:nvPr/>
        </p:nvSpPr>
        <p:spPr>
          <a:xfrm>
            <a:off x="16596360" y="3328416"/>
            <a:ext cx="1266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A7E2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 Digital Twin</a:t>
            </a:r>
            <a:endParaRPr lang="en-US" sz="4400" dirty="0"/>
          </a:p>
        </p:txBody>
      </p:sp>
      <p:sp>
        <p:nvSpPr>
          <p:cNvPr id="17" name="Shape 13"/>
          <p:cNvSpPr/>
          <p:nvPr/>
        </p:nvSpPr>
        <p:spPr>
          <a:xfrm>
            <a:off x="16605504" y="4206240"/>
            <a:ext cx="8641080" cy="466344"/>
          </a:xfrm>
          <a:prstGeom prst="roundRect">
            <a:avLst/>
          </a:prstGeom>
          <a:solidFill>
            <a:srgbClr val="1B4B61"/>
          </a:solidFill>
          <a:ln w="12700">
            <a:solidFill>
              <a:srgbClr val="1B4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8" name="Text 14"/>
          <p:cNvSpPr/>
          <p:nvPr/>
        </p:nvSpPr>
        <p:spPr>
          <a:xfrm>
            <a:off x="16696944" y="4224528"/>
            <a:ext cx="8458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6EE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UNDERGRADUATE INNOVATION CHALLENGE</a:t>
            </a: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0" y="4983480"/>
            <a:ext cx="30275784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" name="Text 16"/>
          <p:cNvSpPr/>
          <p:nvPr/>
        </p:nvSpPr>
        <p:spPr>
          <a:xfrm>
            <a:off x="822960" y="5330952"/>
            <a:ext cx="6903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Huda Mueen</a:t>
            </a:r>
            <a:endParaRPr lang="en-US" sz="3200" dirty="0"/>
          </a:p>
        </p:txBody>
      </p:sp>
      <p:sp>
        <p:nvSpPr>
          <p:cNvPr id="21" name="Text 17">
            <a:hlinkClick r:id="rId5"/>
          </p:cNvPr>
          <p:cNvSpPr/>
          <p:nvPr/>
        </p:nvSpPr>
        <p:spPr>
          <a:xfrm>
            <a:off x="822960" y="5879592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u="sng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hudamueen2407@gmail.com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7918704" y="5257800"/>
            <a:ext cx="0" cy="1353312"/>
          </a:xfrm>
          <a:prstGeom prst="line">
            <a:avLst/>
          </a:prstGeom>
          <a:noFill/>
          <a:ln w="1778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3" name="Text 19"/>
          <p:cNvSpPr/>
          <p:nvPr/>
        </p:nvSpPr>
        <p:spPr>
          <a:xfrm>
            <a:off x="8229600" y="5330952"/>
            <a:ext cx="6903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Awaiz Ahmed</a:t>
            </a:r>
            <a:endParaRPr lang="en-US" sz="3200" dirty="0"/>
          </a:p>
        </p:txBody>
      </p:sp>
      <p:sp>
        <p:nvSpPr>
          <p:cNvPr id="24" name="Text 20">
            <a:hlinkClick r:id="rId6"/>
          </p:cNvPr>
          <p:cNvSpPr/>
          <p:nvPr/>
        </p:nvSpPr>
        <p:spPr>
          <a:xfrm>
            <a:off x="8229600" y="5879592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u="sng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202310183@aau.ac.ae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15325344" y="5257800"/>
            <a:ext cx="0" cy="1353312"/>
          </a:xfrm>
          <a:prstGeom prst="line">
            <a:avLst/>
          </a:prstGeom>
          <a:noFill/>
          <a:ln w="1778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" name="Text 22"/>
          <p:cNvSpPr/>
          <p:nvPr/>
        </p:nvSpPr>
        <p:spPr>
          <a:xfrm>
            <a:off x="15636240" y="5330952"/>
            <a:ext cx="6903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Mohammad Umar</a:t>
            </a:r>
            <a:endParaRPr lang="en-US" sz="3200" dirty="0"/>
          </a:p>
        </p:txBody>
      </p:sp>
      <p:sp>
        <p:nvSpPr>
          <p:cNvPr id="27" name="Text 23">
            <a:hlinkClick r:id="rId7"/>
          </p:cNvPr>
          <p:cNvSpPr/>
          <p:nvPr/>
        </p:nvSpPr>
        <p:spPr>
          <a:xfrm>
            <a:off x="15636240" y="5879592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u="sng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202240077@aau.ac.ae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22731984" y="5257800"/>
            <a:ext cx="0" cy="1353312"/>
          </a:xfrm>
          <a:prstGeom prst="line">
            <a:avLst/>
          </a:prstGeom>
          <a:noFill/>
          <a:ln w="1778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9" name="Text 25"/>
          <p:cNvSpPr/>
          <p:nvPr/>
        </p:nvSpPr>
        <p:spPr>
          <a:xfrm>
            <a:off x="23042880" y="5330952"/>
            <a:ext cx="6903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Bilal Feroz</a:t>
            </a:r>
            <a:endParaRPr lang="en-US" sz="3200" dirty="0"/>
          </a:p>
        </p:txBody>
      </p:sp>
      <p:sp>
        <p:nvSpPr>
          <p:cNvPr id="30" name="Text 26">
            <a:hlinkClick r:id="rId8"/>
          </p:cNvPr>
          <p:cNvSpPr/>
          <p:nvPr/>
        </p:nvSpPr>
        <p:spPr>
          <a:xfrm>
            <a:off x="23042880" y="5879592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u="sng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202310641@aau.ac.ae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731520" y="6473952"/>
            <a:ext cx="28821888" cy="265176"/>
          </a:xfrm>
          <a:prstGeom prst="roundRect">
            <a:avLst/>
          </a:prstGeom>
          <a:solidFill>
            <a:srgbClr val="E6F5F2"/>
          </a:solidFill>
          <a:ln w="12700">
            <a:solidFill>
              <a:srgbClr val="E6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2" name="Text 28"/>
          <p:cNvSpPr/>
          <p:nvPr/>
        </p:nvSpPr>
        <p:spPr>
          <a:xfrm>
            <a:off x="987552" y="6478524"/>
            <a:ext cx="1609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Ain University  •  Abu Dhabi, United Arab Emirates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21717000" y="647852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KANBAN  /  4 AUTHORS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749808" y="7068312"/>
            <a:ext cx="28794456" cy="1801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5" name="Text 31"/>
          <p:cNvSpPr/>
          <p:nvPr/>
        </p:nvSpPr>
        <p:spPr>
          <a:xfrm>
            <a:off x="1078992" y="73060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CROSS-DOMAIN RECOVERY MATTERS</a:t>
            </a: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9509760" y="7315200"/>
            <a:ext cx="5074920" cy="1243584"/>
          </a:xfrm>
          <a:prstGeom prst="roundRect">
            <a:avLst/>
          </a:prstGeom>
          <a:solidFill>
            <a:srgbClr val="FFF0EC"/>
          </a:solidFill>
          <a:ln w="12700">
            <a:solidFill>
              <a:srgbClr val="FFF0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7" name="Shape 33"/>
          <p:cNvSpPr/>
          <p:nvPr/>
        </p:nvSpPr>
        <p:spPr>
          <a:xfrm>
            <a:off x="9646920" y="7443216"/>
            <a:ext cx="5486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8" name="Text 34"/>
          <p:cNvSpPr/>
          <p:nvPr/>
        </p:nvSpPr>
        <p:spPr>
          <a:xfrm>
            <a:off x="9738360" y="7461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6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10332720" y="743407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FEEDER OUTAGE</a:t>
            </a:r>
            <a:endParaRPr lang="en-US" sz="2000" dirty="0"/>
          </a:p>
        </p:txBody>
      </p:sp>
      <p:sp>
        <p:nvSpPr>
          <p:cNvPr id="40" name="Text 36"/>
          <p:cNvSpPr/>
          <p:nvPr/>
        </p:nvSpPr>
        <p:spPr>
          <a:xfrm>
            <a:off x="10332720" y="788212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supply interrupted</a:t>
            </a:r>
            <a:endParaRPr lang="en-US" dirty="0"/>
          </a:p>
        </p:txBody>
      </p:sp>
      <p:sp>
        <p:nvSpPr>
          <p:cNvPr id="41" name="Shape 37"/>
          <p:cNvSpPr/>
          <p:nvPr/>
        </p:nvSpPr>
        <p:spPr>
          <a:xfrm>
            <a:off x="14630400" y="7909560"/>
            <a:ext cx="539496" cy="0"/>
          </a:xfrm>
          <a:prstGeom prst="line">
            <a:avLst/>
          </a:prstGeom>
          <a:noFill/>
          <a:ln w="26670">
            <a:solidFill>
              <a:srgbClr val="087E86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42" name="Shape 38"/>
          <p:cNvSpPr/>
          <p:nvPr/>
        </p:nvSpPr>
        <p:spPr>
          <a:xfrm>
            <a:off x="15636240" y="7315200"/>
            <a:ext cx="5074920" cy="1243584"/>
          </a:xfrm>
          <a:prstGeom prst="roundRect">
            <a:avLst/>
          </a:prstGeom>
          <a:solidFill>
            <a:srgbClr val="FFF3DD"/>
          </a:solidFill>
          <a:ln w="12700">
            <a:solidFill>
              <a:srgbClr val="FFF3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3" name="Shape 39"/>
          <p:cNvSpPr/>
          <p:nvPr/>
        </p:nvSpPr>
        <p:spPr>
          <a:xfrm>
            <a:off x="15773400" y="7443216"/>
            <a:ext cx="5486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4" name="Text 40"/>
          <p:cNvSpPr/>
          <p:nvPr/>
        </p:nvSpPr>
        <p:spPr>
          <a:xfrm>
            <a:off x="15864840" y="7461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7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16459200" y="743407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PUMP DISRUPTION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16459200" y="788212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Electrical-to-hydraulic link</a:t>
            </a: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20756880" y="7909560"/>
            <a:ext cx="539496" cy="0"/>
          </a:xfrm>
          <a:prstGeom prst="line">
            <a:avLst/>
          </a:prstGeom>
          <a:noFill/>
          <a:ln w="26670">
            <a:solidFill>
              <a:srgbClr val="087E86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48" name="Shape 44"/>
          <p:cNvSpPr/>
          <p:nvPr/>
        </p:nvSpPr>
        <p:spPr>
          <a:xfrm>
            <a:off x="21579840" y="7315200"/>
            <a:ext cx="5074920" cy="1243584"/>
          </a:xfrm>
          <a:prstGeom prst="roundRect">
            <a:avLst/>
          </a:prstGeom>
          <a:solidFill>
            <a:srgbClr val="E9F3F9"/>
          </a:solidFill>
          <a:ln w="12700">
            <a:solidFill>
              <a:srgbClr val="E9F3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9" name="Shape 45"/>
          <p:cNvSpPr/>
          <p:nvPr/>
        </p:nvSpPr>
        <p:spPr>
          <a:xfrm>
            <a:off x="21717000" y="7443216"/>
            <a:ext cx="5486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0" name="Text 46"/>
          <p:cNvSpPr/>
          <p:nvPr/>
        </p:nvSpPr>
        <p:spPr>
          <a:xfrm>
            <a:off x="21808440" y="7461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22402800" y="743407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WATER-SERVICE RISK</a:t>
            </a:r>
            <a:endParaRPr lang="en-US" sz="2000" dirty="0"/>
          </a:p>
        </p:txBody>
      </p:sp>
      <p:sp>
        <p:nvSpPr>
          <p:cNvPr id="52" name="Text 48"/>
          <p:cNvSpPr/>
          <p:nvPr/>
        </p:nvSpPr>
        <p:spPr>
          <a:xfrm>
            <a:off x="22402800" y="788212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/ demand may decline</a:t>
            </a:r>
            <a:endParaRPr lang="en-US" dirty="0"/>
          </a:p>
        </p:txBody>
      </p:sp>
      <p:sp>
        <p:nvSpPr>
          <p:cNvPr id="53" name="Shape 49"/>
          <p:cNvSpPr/>
          <p:nvPr/>
        </p:nvSpPr>
        <p:spPr>
          <a:xfrm>
            <a:off x="749808" y="9098280"/>
            <a:ext cx="14255496" cy="4050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4" name="Shape 50"/>
          <p:cNvSpPr/>
          <p:nvPr/>
        </p:nvSpPr>
        <p:spPr>
          <a:xfrm>
            <a:off x="1024128" y="9445752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5" name="Text 51"/>
          <p:cNvSpPr/>
          <p:nvPr/>
        </p:nvSpPr>
        <p:spPr>
          <a:xfrm>
            <a:off x="1271016" y="9326880"/>
            <a:ext cx="1341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&amp; Research Question</a:t>
            </a:r>
            <a:endParaRPr lang="en-US" sz="3600" dirty="0"/>
          </a:p>
        </p:txBody>
      </p:sp>
      <p:sp>
        <p:nvSpPr>
          <p:cNvPr id="56" name="Shape 52"/>
          <p:cNvSpPr/>
          <p:nvPr/>
        </p:nvSpPr>
        <p:spPr>
          <a:xfrm>
            <a:off x="1280160" y="10030968"/>
            <a:ext cx="13194792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7" name="Text 53"/>
          <p:cNvSpPr/>
          <p:nvPr/>
        </p:nvSpPr>
        <p:spPr>
          <a:xfrm>
            <a:off x="13542264" y="9482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1143000" y="10149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ENGINEERING GAP</a:t>
            </a: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1143000" y="10588752"/>
            <a:ext cx="134325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Restoring electrical load is not the same as restoring essential urban services.</a:t>
            </a:r>
            <a:endParaRPr lang="en-US" sz="3200" dirty="0"/>
          </a:p>
        </p:txBody>
      </p:sp>
      <p:sp>
        <p:nvSpPr>
          <p:cNvPr id="60" name="Text 56"/>
          <p:cNvSpPr/>
          <p:nvPr/>
        </p:nvSpPr>
        <p:spPr>
          <a:xfrm>
            <a:off x="1143000" y="11548872"/>
            <a:ext cx="13432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feeder fault can interrupt a dependent pump even after other loads recover. Power-only decisions may overlook pressure head, tank storage and critical water demand.</a:t>
            </a:r>
            <a:endParaRPr lang="en-US" sz="2400" dirty="0"/>
          </a:p>
        </p:txBody>
      </p:sp>
      <p:sp>
        <p:nvSpPr>
          <p:cNvPr id="61" name="Shape 57"/>
          <p:cNvSpPr/>
          <p:nvPr/>
        </p:nvSpPr>
        <p:spPr>
          <a:xfrm>
            <a:off x="749808" y="13368528"/>
            <a:ext cx="14255496" cy="8787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62" name="Shape 58"/>
          <p:cNvSpPr/>
          <p:nvPr/>
        </p:nvSpPr>
        <p:spPr>
          <a:xfrm>
            <a:off x="1024128" y="13716000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63" name="Text 59"/>
          <p:cNvSpPr/>
          <p:nvPr/>
        </p:nvSpPr>
        <p:spPr>
          <a:xfrm>
            <a:off x="1271016" y="13597128"/>
            <a:ext cx="1341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Coupled Infrastructure Model</a:t>
            </a:r>
            <a:endParaRPr lang="en-US" sz="3600" dirty="0"/>
          </a:p>
        </p:txBody>
      </p:sp>
      <p:sp>
        <p:nvSpPr>
          <p:cNvPr id="64" name="Shape 60"/>
          <p:cNvSpPr/>
          <p:nvPr/>
        </p:nvSpPr>
        <p:spPr>
          <a:xfrm>
            <a:off x="1280160" y="14301216"/>
            <a:ext cx="13194792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65" name="Text 61"/>
          <p:cNvSpPr/>
          <p:nvPr/>
        </p:nvSpPr>
        <p:spPr>
          <a:xfrm>
            <a:off x="13542264" y="13752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66" name="Text 62"/>
          <p:cNvSpPr/>
          <p:nvPr/>
        </p:nvSpPr>
        <p:spPr>
          <a:xfrm>
            <a:off x="1152144" y="14465808"/>
            <a:ext cx="1225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  /  ELECTRICITY → PUMP → WATER</a:t>
            </a:r>
            <a:endParaRPr lang="en-US" dirty="0"/>
          </a:p>
        </p:txBody>
      </p:sp>
      <p:sp>
        <p:nvSpPr>
          <p:cNvPr id="67" name="Shape 63"/>
          <p:cNvSpPr/>
          <p:nvPr/>
        </p:nvSpPr>
        <p:spPr>
          <a:xfrm>
            <a:off x="1133856" y="15087600"/>
            <a:ext cx="3813048" cy="4937760"/>
          </a:xfrm>
          <a:prstGeom prst="roundRect">
            <a:avLst/>
          </a:prstGeom>
          <a:solidFill>
            <a:srgbClr val="E9F3F9"/>
          </a:solidFill>
          <a:ln w="13970">
            <a:solidFill>
              <a:srgbClr val="BFD9E5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68" name="Shape 64"/>
          <p:cNvSpPr/>
          <p:nvPr/>
        </p:nvSpPr>
        <p:spPr>
          <a:xfrm>
            <a:off x="1325880" y="15307056"/>
            <a:ext cx="91440" cy="548640"/>
          </a:xfrm>
          <a:prstGeom prst="rect">
            <a:avLst/>
          </a:prstGeom>
          <a:solidFill>
            <a:srgbClr val="2D84B3"/>
          </a:solidFill>
          <a:ln w="12700">
            <a:solidFill>
              <a:srgbClr val="2D84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69" name="Text 65"/>
          <p:cNvSpPr/>
          <p:nvPr/>
        </p:nvSpPr>
        <p:spPr>
          <a:xfrm>
            <a:off x="1563624" y="1536192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D84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</a:t>
            </a: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1371600" y="161391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network</a:t>
            </a:r>
            <a:endParaRPr lang="en-US" sz="3200" dirty="0"/>
          </a:p>
        </p:txBody>
      </p:sp>
      <p:sp>
        <p:nvSpPr>
          <p:cNvPr id="71" name="Shape 67"/>
          <p:cNvSpPr/>
          <p:nvPr/>
        </p:nvSpPr>
        <p:spPr>
          <a:xfrm>
            <a:off x="1408176" y="16943832"/>
            <a:ext cx="3264408" cy="0"/>
          </a:xfrm>
          <a:prstGeom prst="line">
            <a:avLst/>
          </a:prstGeom>
          <a:noFill/>
          <a:ln w="17780">
            <a:solidFill>
              <a:srgbClr val="BFD9E5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72" name="Shape 68"/>
          <p:cNvSpPr/>
          <p:nvPr/>
        </p:nvSpPr>
        <p:spPr>
          <a:xfrm>
            <a:off x="1490472" y="17346168"/>
            <a:ext cx="128016" cy="128016"/>
          </a:xfrm>
          <a:prstGeom prst="ellipse">
            <a:avLst/>
          </a:prstGeom>
          <a:solidFill>
            <a:srgbClr val="2D84B3"/>
          </a:solidFill>
          <a:ln w="12700">
            <a:solidFill>
              <a:srgbClr val="2D84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73" name="Text 69"/>
          <p:cNvSpPr/>
          <p:nvPr/>
        </p:nvSpPr>
        <p:spPr>
          <a:xfrm>
            <a:off x="1755648" y="17227296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and feeder state</a:t>
            </a:r>
            <a:endParaRPr lang="en-US" sz="2000" dirty="0"/>
          </a:p>
        </p:txBody>
      </p:sp>
      <p:sp>
        <p:nvSpPr>
          <p:cNvPr id="74" name="Shape 70"/>
          <p:cNvSpPr/>
          <p:nvPr/>
        </p:nvSpPr>
        <p:spPr>
          <a:xfrm>
            <a:off x="1490472" y="18068544"/>
            <a:ext cx="128016" cy="128016"/>
          </a:xfrm>
          <a:prstGeom prst="ellipse">
            <a:avLst/>
          </a:prstGeom>
          <a:solidFill>
            <a:srgbClr val="2D84B3"/>
          </a:solidFill>
          <a:ln w="12700">
            <a:solidFill>
              <a:srgbClr val="2D84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75" name="Text 71"/>
          <p:cNvSpPr/>
          <p:nvPr/>
        </p:nvSpPr>
        <p:spPr>
          <a:xfrm>
            <a:off x="1755648" y="17949672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Voltage / line loading</a:t>
            </a:r>
            <a:endParaRPr lang="en-US" sz="2000" dirty="0"/>
          </a:p>
        </p:txBody>
      </p:sp>
      <p:sp>
        <p:nvSpPr>
          <p:cNvPr id="76" name="Shape 72"/>
          <p:cNvSpPr/>
          <p:nvPr/>
        </p:nvSpPr>
        <p:spPr>
          <a:xfrm>
            <a:off x="1490472" y="18790920"/>
            <a:ext cx="128016" cy="128016"/>
          </a:xfrm>
          <a:prstGeom prst="ellipse">
            <a:avLst/>
          </a:prstGeom>
          <a:solidFill>
            <a:srgbClr val="2D84B3"/>
          </a:solidFill>
          <a:ln w="12700">
            <a:solidFill>
              <a:srgbClr val="2D84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77" name="Text 73"/>
          <p:cNvSpPr/>
          <p:nvPr/>
        </p:nvSpPr>
        <p:spPr>
          <a:xfrm>
            <a:off x="1755648" y="18672048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Switching topology</a:t>
            </a:r>
            <a:endParaRPr lang="en-US" sz="2000" dirty="0"/>
          </a:p>
        </p:txBody>
      </p:sp>
      <p:sp>
        <p:nvSpPr>
          <p:cNvPr id="78" name="Shape 74"/>
          <p:cNvSpPr/>
          <p:nvPr/>
        </p:nvSpPr>
        <p:spPr>
          <a:xfrm>
            <a:off x="5385816" y="15087600"/>
            <a:ext cx="3922776" cy="4937760"/>
          </a:xfrm>
          <a:prstGeom prst="roundRect">
            <a:avLst/>
          </a:prstGeom>
          <a:solidFill>
            <a:srgbClr val="FFF3DD"/>
          </a:solidFill>
          <a:ln w="13970">
            <a:solidFill>
              <a:srgbClr val="E9D5AA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79" name="Shape 75"/>
          <p:cNvSpPr/>
          <p:nvPr/>
        </p:nvSpPr>
        <p:spPr>
          <a:xfrm>
            <a:off x="5577840" y="15307056"/>
            <a:ext cx="91440" cy="548640"/>
          </a:xfrm>
          <a:prstGeom prst="rect">
            <a:avLst/>
          </a:prstGeom>
          <a:solidFill>
            <a:srgbClr val="B7822A"/>
          </a:solidFill>
          <a:ln w="12700">
            <a:solidFill>
              <a:srgbClr val="B78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80" name="Text 76"/>
          <p:cNvSpPr/>
          <p:nvPr/>
        </p:nvSpPr>
        <p:spPr>
          <a:xfrm>
            <a:off x="5815584" y="1536192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B78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COUPLING</a:t>
            </a: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5623560" y="16139160"/>
            <a:ext cx="3447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 pump</a:t>
            </a:r>
            <a:endParaRPr lang="en-US" sz="3200" dirty="0"/>
          </a:p>
        </p:txBody>
      </p:sp>
      <p:sp>
        <p:nvSpPr>
          <p:cNvPr id="82" name="Shape 78"/>
          <p:cNvSpPr/>
          <p:nvPr/>
        </p:nvSpPr>
        <p:spPr>
          <a:xfrm>
            <a:off x="5660136" y="16943832"/>
            <a:ext cx="3374136" cy="0"/>
          </a:xfrm>
          <a:prstGeom prst="line">
            <a:avLst/>
          </a:prstGeom>
          <a:noFill/>
          <a:ln w="17780">
            <a:solidFill>
              <a:srgbClr val="E9D5AA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83" name="Shape 79"/>
          <p:cNvSpPr/>
          <p:nvPr/>
        </p:nvSpPr>
        <p:spPr>
          <a:xfrm>
            <a:off x="5742432" y="17346168"/>
            <a:ext cx="128016" cy="128016"/>
          </a:xfrm>
          <a:prstGeom prst="ellipse">
            <a:avLst/>
          </a:prstGeom>
          <a:solidFill>
            <a:srgbClr val="B7822A"/>
          </a:solidFill>
          <a:ln w="12700">
            <a:solidFill>
              <a:srgbClr val="B78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84" name="Text 80"/>
          <p:cNvSpPr/>
          <p:nvPr/>
        </p:nvSpPr>
        <p:spPr>
          <a:xfrm>
            <a:off x="6007608" y="17227296"/>
            <a:ext cx="3099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 supply gate</a:t>
            </a:r>
            <a:endParaRPr lang="en-US" sz="2000" dirty="0"/>
          </a:p>
        </p:txBody>
      </p:sp>
      <p:sp>
        <p:nvSpPr>
          <p:cNvPr id="85" name="Shape 81"/>
          <p:cNvSpPr/>
          <p:nvPr/>
        </p:nvSpPr>
        <p:spPr>
          <a:xfrm>
            <a:off x="5742432" y="18068544"/>
            <a:ext cx="128016" cy="128016"/>
          </a:xfrm>
          <a:prstGeom prst="ellipse">
            <a:avLst/>
          </a:prstGeom>
          <a:solidFill>
            <a:srgbClr val="B7822A"/>
          </a:solidFill>
          <a:ln w="12700">
            <a:solidFill>
              <a:srgbClr val="B78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86" name="Text 82"/>
          <p:cNvSpPr/>
          <p:nvPr/>
        </p:nvSpPr>
        <p:spPr>
          <a:xfrm>
            <a:off x="6007608" y="17949672"/>
            <a:ext cx="3099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Pump availability</a:t>
            </a:r>
            <a:endParaRPr lang="en-US" sz="2000" dirty="0"/>
          </a:p>
        </p:txBody>
      </p:sp>
      <p:sp>
        <p:nvSpPr>
          <p:cNvPr id="87" name="Shape 83"/>
          <p:cNvSpPr/>
          <p:nvPr/>
        </p:nvSpPr>
        <p:spPr>
          <a:xfrm>
            <a:off x="5742432" y="18790920"/>
            <a:ext cx="128016" cy="128016"/>
          </a:xfrm>
          <a:prstGeom prst="ellipse">
            <a:avLst/>
          </a:prstGeom>
          <a:solidFill>
            <a:srgbClr val="B7822A"/>
          </a:solidFill>
          <a:ln w="12700">
            <a:solidFill>
              <a:srgbClr val="B78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88" name="Text 84"/>
          <p:cNvSpPr/>
          <p:nvPr/>
        </p:nvSpPr>
        <p:spPr>
          <a:xfrm>
            <a:off x="6007608" y="18672048"/>
            <a:ext cx="3099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Power-to-flow linkage</a:t>
            </a:r>
            <a:endParaRPr lang="en-US" sz="2000" dirty="0"/>
          </a:p>
        </p:txBody>
      </p:sp>
      <p:sp>
        <p:nvSpPr>
          <p:cNvPr id="89" name="Shape 85"/>
          <p:cNvSpPr/>
          <p:nvPr/>
        </p:nvSpPr>
        <p:spPr>
          <a:xfrm>
            <a:off x="9930384" y="15087600"/>
            <a:ext cx="4306824" cy="4937760"/>
          </a:xfrm>
          <a:prstGeom prst="roundRect">
            <a:avLst/>
          </a:prstGeom>
          <a:solidFill>
            <a:srgbClr val="E7F5F5"/>
          </a:solidFill>
          <a:ln w="13970">
            <a:solidFill>
              <a:srgbClr val="BFDDE0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0" name="Shape 86"/>
          <p:cNvSpPr/>
          <p:nvPr/>
        </p:nvSpPr>
        <p:spPr>
          <a:xfrm>
            <a:off x="10122408" y="15307056"/>
            <a:ext cx="91440" cy="548640"/>
          </a:xfrm>
          <a:prstGeom prst="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1" name="Text 87"/>
          <p:cNvSpPr/>
          <p:nvPr/>
        </p:nvSpPr>
        <p:spPr>
          <a:xfrm>
            <a:off x="10360152" y="1536192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HYDRAULIC</a:t>
            </a:r>
            <a:endParaRPr lang="en-US" dirty="0"/>
          </a:p>
        </p:txBody>
      </p:sp>
      <p:sp>
        <p:nvSpPr>
          <p:cNvPr id="92" name="Text 88"/>
          <p:cNvSpPr/>
          <p:nvPr/>
        </p:nvSpPr>
        <p:spPr>
          <a:xfrm>
            <a:off x="10168128" y="16139160"/>
            <a:ext cx="3831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network</a:t>
            </a:r>
            <a:endParaRPr lang="en-US" sz="3200" dirty="0"/>
          </a:p>
        </p:txBody>
      </p:sp>
      <p:sp>
        <p:nvSpPr>
          <p:cNvPr id="93" name="Shape 89"/>
          <p:cNvSpPr/>
          <p:nvPr/>
        </p:nvSpPr>
        <p:spPr>
          <a:xfrm>
            <a:off x="10204704" y="16943832"/>
            <a:ext cx="3758184" cy="0"/>
          </a:xfrm>
          <a:prstGeom prst="line">
            <a:avLst/>
          </a:prstGeom>
          <a:noFill/>
          <a:ln w="17780">
            <a:solidFill>
              <a:srgbClr val="BFDDE0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4" name="Shape 90"/>
          <p:cNvSpPr/>
          <p:nvPr/>
        </p:nvSpPr>
        <p:spPr>
          <a:xfrm>
            <a:off x="10287000" y="17346168"/>
            <a:ext cx="128016" cy="128016"/>
          </a:xfrm>
          <a:prstGeom prst="ellipse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5" name="Text 91"/>
          <p:cNvSpPr/>
          <p:nvPr/>
        </p:nvSpPr>
        <p:spPr>
          <a:xfrm>
            <a:off x="10552176" y="17227296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Tank / reservoir levels</a:t>
            </a:r>
            <a:endParaRPr lang="en-US" sz="2000" dirty="0"/>
          </a:p>
        </p:txBody>
      </p:sp>
      <p:sp>
        <p:nvSpPr>
          <p:cNvPr id="96" name="Shape 92"/>
          <p:cNvSpPr/>
          <p:nvPr/>
        </p:nvSpPr>
        <p:spPr>
          <a:xfrm>
            <a:off x="10287000" y="18068544"/>
            <a:ext cx="128016" cy="128016"/>
          </a:xfrm>
          <a:prstGeom prst="ellipse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7" name="Text 93"/>
          <p:cNvSpPr/>
          <p:nvPr/>
        </p:nvSpPr>
        <p:spPr>
          <a:xfrm>
            <a:off x="10552176" y="1794967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Pressure-driven demand</a:t>
            </a:r>
            <a:endParaRPr lang="en-US" sz="2000" dirty="0"/>
          </a:p>
        </p:txBody>
      </p:sp>
      <p:sp>
        <p:nvSpPr>
          <p:cNvPr id="98" name="Shape 94"/>
          <p:cNvSpPr/>
          <p:nvPr/>
        </p:nvSpPr>
        <p:spPr>
          <a:xfrm>
            <a:off x="10287000" y="18790920"/>
            <a:ext cx="128016" cy="128016"/>
          </a:xfrm>
          <a:prstGeom prst="ellipse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9" name="Text 95"/>
          <p:cNvSpPr/>
          <p:nvPr/>
        </p:nvSpPr>
        <p:spPr>
          <a:xfrm>
            <a:off x="10552176" y="186720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service nodes</a:t>
            </a:r>
            <a:endParaRPr lang="en-US" sz="2000" dirty="0"/>
          </a:p>
        </p:txBody>
      </p:sp>
      <p:sp>
        <p:nvSpPr>
          <p:cNvPr id="100" name="Shape 96"/>
          <p:cNvSpPr/>
          <p:nvPr/>
        </p:nvSpPr>
        <p:spPr>
          <a:xfrm>
            <a:off x="5010912" y="17007840"/>
            <a:ext cx="283464" cy="0"/>
          </a:xfrm>
          <a:prstGeom prst="line">
            <a:avLst/>
          </a:prstGeom>
          <a:noFill/>
          <a:ln w="38100">
            <a:solidFill>
              <a:srgbClr val="B7822A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101" name="Shape 97"/>
          <p:cNvSpPr/>
          <p:nvPr/>
        </p:nvSpPr>
        <p:spPr>
          <a:xfrm>
            <a:off x="9381744" y="17007840"/>
            <a:ext cx="448056" cy="0"/>
          </a:xfrm>
          <a:prstGeom prst="line">
            <a:avLst/>
          </a:prstGeom>
          <a:noFill/>
          <a:ln w="38100">
            <a:solidFill>
              <a:srgbClr val="087E86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102" name="Shape 98"/>
          <p:cNvSpPr/>
          <p:nvPr/>
        </p:nvSpPr>
        <p:spPr>
          <a:xfrm>
            <a:off x="1115568" y="20217384"/>
            <a:ext cx="13386816" cy="1417320"/>
          </a:xfrm>
          <a:prstGeom prst="roundRect">
            <a:avLst/>
          </a:prstGeom>
          <a:solidFill>
            <a:srgbClr val="EFF5F5"/>
          </a:solidFill>
          <a:ln w="12700">
            <a:solidFill>
              <a:srgbClr val="EF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03" name="Text 99"/>
          <p:cNvSpPr/>
          <p:nvPr/>
        </p:nvSpPr>
        <p:spPr>
          <a:xfrm>
            <a:off x="1389888" y="20372832"/>
            <a:ext cx="7900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P_pump [kW] = ρ g Q H / (1000 η)</a:t>
            </a:r>
            <a:endParaRPr lang="en-US" sz="3200" dirty="0"/>
          </a:p>
        </p:txBody>
      </p:sp>
      <p:sp>
        <p:nvSpPr>
          <p:cNvPr id="104" name="Text 100"/>
          <p:cNvSpPr/>
          <p:nvPr/>
        </p:nvSpPr>
        <p:spPr>
          <a:xfrm>
            <a:off x="1417320" y="20948904"/>
            <a:ext cx="7982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[m³/s] · H [m] · η [–] · ρ [kg/m³]</a:t>
            </a:r>
            <a:endParaRPr lang="en-US" sz="2000" dirty="0"/>
          </a:p>
        </p:txBody>
      </p:sp>
      <p:sp>
        <p:nvSpPr>
          <p:cNvPr id="105" name="Shape 101"/>
          <p:cNvSpPr/>
          <p:nvPr/>
        </p:nvSpPr>
        <p:spPr>
          <a:xfrm>
            <a:off x="9592056" y="20473416"/>
            <a:ext cx="0" cy="877824"/>
          </a:xfrm>
          <a:prstGeom prst="line">
            <a:avLst/>
          </a:prstGeom>
          <a:noFill/>
          <a:ln w="1905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06" name="Text 102"/>
          <p:cNvSpPr/>
          <p:nvPr/>
        </p:nvSpPr>
        <p:spPr>
          <a:xfrm>
            <a:off x="9884664" y="20436840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energized?</a:t>
            </a:r>
            <a:endParaRPr lang="en-US" sz="2400" dirty="0"/>
          </a:p>
        </p:txBody>
      </p:sp>
      <p:sp>
        <p:nvSpPr>
          <p:cNvPr id="107" name="Text 103"/>
          <p:cNvSpPr/>
          <p:nvPr/>
        </p:nvSpPr>
        <p:spPr>
          <a:xfrm>
            <a:off x="9884664" y="20930616"/>
            <a:ext cx="4242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pump operating state</a:t>
            </a:r>
            <a:endParaRPr lang="en-US" sz="2000" dirty="0"/>
          </a:p>
        </p:txBody>
      </p:sp>
      <p:sp>
        <p:nvSpPr>
          <p:cNvPr id="108" name="Shape 104"/>
          <p:cNvSpPr/>
          <p:nvPr/>
        </p:nvSpPr>
        <p:spPr>
          <a:xfrm>
            <a:off x="749808" y="22366224"/>
            <a:ext cx="14255496" cy="7735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09" name="Shape 105"/>
          <p:cNvSpPr/>
          <p:nvPr/>
        </p:nvSpPr>
        <p:spPr>
          <a:xfrm>
            <a:off x="1024128" y="22677120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10" name="Text 106"/>
          <p:cNvSpPr/>
          <p:nvPr/>
        </p:nvSpPr>
        <p:spPr>
          <a:xfrm>
            <a:off x="1271016" y="22558248"/>
            <a:ext cx="1341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&amp; Computational Workflow</a:t>
            </a:r>
            <a:endParaRPr lang="en-US" sz="3600" dirty="0"/>
          </a:p>
        </p:txBody>
      </p:sp>
      <p:sp>
        <p:nvSpPr>
          <p:cNvPr id="111" name="Shape 107"/>
          <p:cNvSpPr/>
          <p:nvPr/>
        </p:nvSpPr>
        <p:spPr>
          <a:xfrm>
            <a:off x="1280160" y="23262336"/>
            <a:ext cx="13194792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12" name="Text 108"/>
          <p:cNvSpPr/>
          <p:nvPr/>
        </p:nvSpPr>
        <p:spPr>
          <a:xfrm>
            <a:off x="13542264" y="227136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113" name="Text 109"/>
          <p:cNvSpPr/>
          <p:nvPr/>
        </p:nvSpPr>
        <p:spPr>
          <a:xfrm>
            <a:off x="1152144" y="23326344"/>
            <a:ext cx="1289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ALGORITHM  /  THREE-STRATEGY EXPERIMENT</a:t>
            </a:r>
            <a:endParaRPr lang="en-US" dirty="0"/>
          </a:p>
        </p:txBody>
      </p:sp>
      <p:sp>
        <p:nvSpPr>
          <p:cNvPr id="114" name="Shape 110"/>
          <p:cNvSpPr/>
          <p:nvPr/>
        </p:nvSpPr>
        <p:spPr>
          <a:xfrm>
            <a:off x="1115568" y="24030432"/>
            <a:ext cx="4169664" cy="2569464"/>
          </a:xfrm>
          <a:prstGeom prst="roundRect">
            <a:avLst/>
          </a:prstGeom>
          <a:solidFill>
            <a:srgbClr val="FFF0EC"/>
          </a:solidFill>
          <a:ln w="12700">
            <a:solidFill>
              <a:srgbClr val="FFF0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15" name="Shape 111"/>
          <p:cNvSpPr/>
          <p:nvPr/>
        </p:nvSpPr>
        <p:spPr>
          <a:xfrm>
            <a:off x="1325880" y="24195024"/>
            <a:ext cx="6309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16" name="Text 112"/>
          <p:cNvSpPr/>
          <p:nvPr/>
        </p:nvSpPr>
        <p:spPr>
          <a:xfrm>
            <a:off x="1417320" y="24213312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86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dirty="0"/>
          </a:p>
        </p:txBody>
      </p:sp>
      <p:sp>
        <p:nvSpPr>
          <p:cNvPr id="117" name="Text 113"/>
          <p:cNvSpPr/>
          <p:nvPr/>
        </p:nvSpPr>
        <p:spPr>
          <a:xfrm>
            <a:off x="1335024" y="246613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SCENARIO</a:t>
            </a:r>
            <a:endParaRPr lang="en-US" sz="2800" dirty="0"/>
          </a:p>
        </p:txBody>
      </p:sp>
      <p:sp>
        <p:nvSpPr>
          <p:cNvPr id="118" name="Text 114"/>
          <p:cNvSpPr/>
          <p:nvPr/>
        </p:nvSpPr>
        <p:spPr>
          <a:xfrm>
            <a:off x="1335024" y="25310592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Seeded feeder event + demand profile</a:t>
            </a:r>
            <a:endParaRPr lang="en-US" dirty="0"/>
          </a:p>
        </p:txBody>
      </p:sp>
      <p:sp>
        <p:nvSpPr>
          <p:cNvPr id="119" name="Shape 115"/>
          <p:cNvSpPr/>
          <p:nvPr/>
        </p:nvSpPr>
        <p:spPr>
          <a:xfrm>
            <a:off x="1316736" y="26060400"/>
            <a:ext cx="3749040" cy="0"/>
          </a:xfrm>
          <a:prstGeom prst="line">
            <a:avLst/>
          </a:prstGeom>
          <a:noFill/>
          <a:ln w="12700">
            <a:solidFill>
              <a:srgbClr val="D9E1E2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0" name="Text 116"/>
          <p:cNvSpPr/>
          <p:nvPr/>
        </p:nvSpPr>
        <p:spPr>
          <a:xfrm>
            <a:off x="1344168" y="261335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D86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inputs</a:t>
            </a:r>
            <a:endParaRPr lang="en-US" dirty="0"/>
          </a:p>
        </p:txBody>
      </p:sp>
      <p:sp>
        <p:nvSpPr>
          <p:cNvPr id="121" name="Shape 117"/>
          <p:cNvSpPr/>
          <p:nvPr/>
        </p:nvSpPr>
        <p:spPr>
          <a:xfrm>
            <a:off x="5312664" y="25301448"/>
            <a:ext cx="283464" cy="0"/>
          </a:xfrm>
          <a:prstGeom prst="line">
            <a:avLst/>
          </a:prstGeom>
          <a:noFill/>
          <a:ln w="21590">
            <a:solidFill>
              <a:srgbClr val="087E86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2" name="Shape 118"/>
          <p:cNvSpPr/>
          <p:nvPr/>
        </p:nvSpPr>
        <p:spPr>
          <a:xfrm>
            <a:off x="5669280" y="24030432"/>
            <a:ext cx="4169664" cy="2569464"/>
          </a:xfrm>
          <a:prstGeom prst="roundRect">
            <a:avLst/>
          </a:prstGeom>
          <a:solidFill>
            <a:srgbClr val="E9F3F9"/>
          </a:solidFill>
          <a:ln w="12700">
            <a:solidFill>
              <a:srgbClr val="E9F3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3" name="Shape 119"/>
          <p:cNvSpPr/>
          <p:nvPr/>
        </p:nvSpPr>
        <p:spPr>
          <a:xfrm>
            <a:off x="5879592" y="24195024"/>
            <a:ext cx="6309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4" name="Text 120"/>
          <p:cNvSpPr/>
          <p:nvPr/>
        </p:nvSpPr>
        <p:spPr>
          <a:xfrm>
            <a:off x="5971032" y="24213312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328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dirty="0"/>
          </a:p>
        </p:txBody>
      </p:sp>
      <p:sp>
        <p:nvSpPr>
          <p:cNvPr id="125" name="Text 121"/>
          <p:cNvSpPr/>
          <p:nvPr/>
        </p:nvSpPr>
        <p:spPr>
          <a:xfrm>
            <a:off x="5888736" y="246613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 POWER FLOW</a:t>
            </a:r>
            <a:endParaRPr lang="en-US" sz="2800" dirty="0"/>
          </a:p>
        </p:txBody>
      </p:sp>
      <p:sp>
        <p:nvSpPr>
          <p:cNvPr id="126" name="Text 122"/>
          <p:cNvSpPr/>
          <p:nvPr/>
        </p:nvSpPr>
        <p:spPr>
          <a:xfrm>
            <a:off x="5888736" y="25310592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bus V, current and loading</a:t>
            </a:r>
            <a:endParaRPr lang="en-US" dirty="0"/>
          </a:p>
        </p:txBody>
      </p:sp>
      <p:sp>
        <p:nvSpPr>
          <p:cNvPr id="127" name="Shape 123"/>
          <p:cNvSpPr/>
          <p:nvPr/>
        </p:nvSpPr>
        <p:spPr>
          <a:xfrm>
            <a:off x="5870448" y="26060400"/>
            <a:ext cx="3749040" cy="0"/>
          </a:xfrm>
          <a:prstGeom prst="line">
            <a:avLst/>
          </a:prstGeom>
          <a:noFill/>
          <a:ln w="12700">
            <a:solidFill>
              <a:srgbClr val="D9E1E2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8" name="Text 124"/>
          <p:cNvSpPr/>
          <p:nvPr/>
        </p:nvSpPr>
        <p:spPr>
          <a:xfrm>
            <a:off x="5897880" y="261335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28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pandapower</a:t>
            </a:r>
            <a:endParaRPr lang="en-US" dirty="0"/>
          </a:p>
        </p:txBody>
      </p:sp>
      <p:sp>
        <p:nvSpPr>
          <p:cNvPr id="129" name="Shape 125"/>
          <p:cNvSpPr/>
          <p:nvPr/>
        </p:nvSpPr>
        <p:spPr>
          <a:xfrm>
            <a:off x="9866376" y="25301448"/>
            <a:ext cx="283464" cy="0"/>
          </a:xfrm>
          <a:prstGeom prst="line">
            <a:avLst/>
          </a:prstGeom>
          <a:noFill/>
          <a:ln w="21590">
            <a:solidFill>
              <a:srgbClr val="087E86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0" name="Shape 126"/>
          <p:cNvSpPr/>
          <p:nvPr/>
        </p:nvSpPr>
        <p:spPr>
          <a:xfrm>
            <a:off x="10232136" y="24030432"/>
            <a:ext cx="4169664" cy="2569464"/>
          </a:xfrm>
          <a:prstGeom prst="roundRect">
            <a:avLst/>
          </a:prstGeom>
          <a:solidFill>
            <a:srgbClr val="FFF3DD"/>
          </a:solidFill>
          <a:ln w="12700">
            <a:solidFill>
              <a:srgbClr val="FFF3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1" name="Shape 127"/>
          <p:cNvSpPr/>
          <p:nvPr/>
        </p:nvSpPr>
        <p:spPr>
          <a:xfrm>
            <a:off x="10442448" y="24195024"/>
            <a:ext cx="6309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2" name="Text 128"/>
          <p:cNvSpPr/>
          <p:nvPr/>
        </p:nvSpPr>
        <p:spPr>
          <a:xfrm>
            <a:off x="10533888" y="24213312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B78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dirty="0"/>
          </a:p>
        </p:txBody>
      </p:sp>
      <p:sp>
        <p:nvSpPr>
          <p:cNvPr id="133" name="Text 129"/>
          <p:cNvSpPr/>
          <p:nvPr/>
        </p:nvSpPr>
        <p:spPr>
          <a:xfrm>
            <a:off x="10451592" y="246613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PUMP DEPENDENCY</a:t>
            </a:r>
            <a:endParaRPr lang="en-US" sz="2800" dirty="0"/>
          </a:p>
        </p:txBody>
      </p:sp>
      <p:sp>
        <p:nvSpPr>
          <p:cNvPr id="134" name="Text 130"/>
          <p:cNvSpPr/>
          <p:nvPr/>
        </p:nvSpPr>
        <p:spPr>
          <a:xfrm>
            <a:off x="10451592" y="25310592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source bus to pump availability</a:t>
            </a:r>
            <a:endParaRPr lang="en-US" dirty="0"/>
          </a:p>
        </p:txBody>
      </p:sp>
      <p:sp>
        <p:nvSpPr>
          <p:cNvPr id="135" name="Shape 131"/>
          <p:cNvSpPr/>
          <p:nvPr/>
        </p:nvSpPr>
        <p:spPr>
          <a:xfrm>
            <a:off x="10433304" y="26060400"/>
            <a:ext cx="3749040" cy="0"/>
          </a:xfrm>
          <a:prstGeom prst="line">
            <a:avLst/>
          </a:prstGeom>
          <a:noFill/>
          <a:ln w="12700">
            <a:solidFill>
              <a:srgbClr val="D9E1E2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6" name="Text 132"/>
          <p:cNvSpPr/>
          <p:nvPr/>
        </p:nvSpPr>
        <p:spPr>
          <a:xfrm>
            <a:off x="10460736" y="261335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78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→ water link</a:t>
            </a:r>
            <a:endParaRPr lang="en-US" dirty="0"/>
          </a:p>
        </p:txBody>
      </p:sp>
      <p:sp>
        <p:nvSpPr>
          <p:cNvPr id="137" name="Shape 133"/>
          <p:cNvSpPr/>
          <p:nvPr/>
        </p:nvSpPr>
        <p:spPr>
          <a:xfrm>
            <a:off x="1115568" y="26919936"/>
            <a:ext cx="4169664" cy="2569464"/>
          </a:xfrm>
          <a:prstGeom prst="roundRect">
            <a:avLst/>
          </a:prstGeom>
          <a:solidFill>
            <a:srgbClr val="E7F6F7"/>
          </a:solidFill>
          <a:ln w="12700">
            <a:solidFill>
              <a:srgbClr val="E7F6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8" name="Shape 134"/>
          <p:cNvSpPr/>
          <p:nvPr/>
        </p:nvSpPr>
        <p:spPr>
          <a:xfrm>
            <a:off x="1325880" y="27084528"/>
            <a:ext cx="6309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9" name="Text 135"/>
          <p:cNvSpPr/>
          <p:nvPr/>
        </p:nvSpPr>
        <p:spPr>
          <a:xfrm>
            <a:off x="1417320" y="27102816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dirty="0"/>
          </a:p>
        </p:txBody>
      </p:sp>
      <p:sp>
        <p:nvSpPr>
          <p:cNvPr id="140" name="Text 136"/>
          <p:cNvSpPr/>
          <p:nvPr/>
        </p:nvSpPr>
        <p:spPr>
          <a:xfrm>
            <a:off x="1335024" y="275508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HYDRAULIC RUN</a:t>
            </a:r>
            <a:endParaRPr lang="en-US" sz="2800" dirty="0"/>
          </a:p>
        </p:txBody>
      </p:sp>
      <p:sp>
        <p:nvSpPr>
          <p:cNvPr id="141" name="Text 137"/>
          <p:cNvSpPr/>
          <p:nvPr/>
        </p:nvSpPr>
        <p:spPr>
          <a:xfrm>
            <a:off x="1335024" y="28200096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pressures, tanks, delivered flow</a:t>
            </a:r>
            <a:endParaRPr lang="en-US" dirty="0"/>
          </a:p>
        </p:txBody>
      </p:sp>
      <p:sp>
        <p:nvSpPr>
          <p:cNvPr id="142" name="Shape 138"/>
          <p:cNvSpPr/>
          <p:nvPr/>
        </p:nvSpPr>
        <p:spPr>
          <a:xfrm>
            <a:off x="1316736" y="28949904"/>
            <a:ext cx="3749040" cy="0"/>
          </a:xfrm>
          <a:prstGeom prst="line">
            <a:avLst/>
          </a:prstGeom>
          <a:noFill/>
          <a:ln w="12700">
            <a:solidFill>
              <a:srgbClr val="D9E1E2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43" name="Text 139"/>
          <p:cNvSpPr/>
          <p:nvPr/>
        </p:nvSpPr>
        <p:spPr>
          <a:xfrm>
            <a:off x="1344168" y="290230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WNTR / EPANET</a:t>
            </a:r>
            <a:endParaRPr lang="en-US" dirty="0"/>
          </a:p>
        </p:txBody>
      </p:sp>
      <p:sp>
        <p:nvSpPr>
          <p:cNvPr id="144" name="Shape 140"/>
          <p:cNvSpPr/>
          <p:nvPr/>
        </p:nvSpPr>
        <p:spPr>
          <a:xfrm>
            <a:off x="5312664" y="28190952"/>
            <a:ext cx="283464" cy="0"/>
          </a:xfrm>
          <a:prstGeom prst="line">
            <a:avLst/>
          </a:prstGeom>
          <a:noFill/>
          <a:ln w="21590">
            <a:solidFill>
              <a:srgbClr val="087E86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145" name="Shape 141"/>
          <p:cNvSpPr/>
          <p:nvPr/>
        </p:nvSpPr>
        <p:spPr>
          <a:xfrm>
            <a:off x="5669280" y="26919936"/>
            <a:ext cx="4169664" cy="2569464"/>
          </a:xfrm>
          <a:prstGeom prst="roundRect">
            <a:avLst/>
          </a:prstGeom>
          <a:solidFill>
            <a:srgbClr val="F1EFFB"/>
          </a:solidFill>
          <a:ln w="12700">
            <a:solidFill>
              <a:srgbClr val="F1EF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46" name="Shape 142"/>
          <p:cNvSpPr/>
          <p:nvPr/>
        </p:nvSpPr>
        <p:spPr>
          <a:xfrm>
            <a:off x="5879592" y="27084528"/>
            <a:ext cx="6309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47" name="Text 143"/>
          <p:cNvSpPr/>
          <p:nvPr/>
        </p:nvSpPr>
        <p:spPr>
          <a:xfrm>
            <a:off x="5971032" y="27102816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756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dirty="0"/>
          </a:p>
        </p:txBody>
      </p:sp>
      <p:sp>
        <p:nvSpPr>
          <p:cNvPr id="148" name="Text 144"/>
          <p:cNvSpPr/>
          <p:nvPr/>
        </p:nvSpPr>
        <p:spPr>
          <a:xfrm>
            <a:off x="5888736" y="275508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SEARCH</a:t>
            </a:r>
            <a:endParaRPr lang="en-US" sz="2800" dirty="0"/>
          </a:p>
        </p:txBody>
      </p:sp>
      <p:sp>
        <p:nvSpPr>
          <p:cNvPr id="149" name="Text 145"/>
          <p:cNvSpPr/>
          <p:nvPr/>
        </p:nvSpPr>
        <p:spPr>
          <a:xfrm>
            <a:off x="5888736" y="28200096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Enumerate / optimize switching actions</a:t>
            </a:r>
            <a:endParaRPr lang="en-US" dirty="0"/>
          </a:p>
        </p:txBody>
      </p:sp>
      <p:sp>
        <p:nvSpPr>
          <p:cNvPr id="150" name="Shape 146"/>
          <p:cNvSpPr/>
          <p:nvPr/>
        </p:nvSpPr>
        <p:spPr>
          <a:xfrm>
            <a:off x="5870448" y="28949904"/>
            <a:ext cx="3749040" cy="0"/>
          </a:xfrm>
          <a:prstGeom prst="line">
            <a:avLst/>
          </a:prstGeom>
          <a:noFill/>
          <a:ln w="12700">
            <a:solidFill>
              <a:srgbClr val="D9E1E2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1" name="Text 147"/>
          <p:cNvSpPr/>
          <p:nvPr/>
        </p:nvSpPr>
        <p:spPr>
          <a:xfrm>
            <a:off x="5897880" y="290230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756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OR-Tools CP-SAT</a:t>
            </a:r>
            <a:endParaRPr lang="en-US" dirty="0"/>
          </a:p>
        </p:txBody>
      </p:sp>
      <p:sp>
        <p:nvSpPr>
          <p:cNvPr id="152" name="Shape 148"/>
          <p:cNvSpPr/>
          <p:nvPr/>
        </p:nvSpPr>
        <p:spPr>
          <a:xfrm>
            <a:off x="9866376" y="28190952"/>
            <a:ext cx="283464" cy="0"/>
          </a:xfrm>
          <a:prstGeom prst="line">
            <a:avLst/>
          </a:prstGeom>
          <a:noFill/>
          <a:ln w="21590">
            <a:solidFill>
              <a:srgbClr val="087E86"/>
            </a:solidFill>
            <a:prstDash val="solid"/>
            <a:tailEnd type="triangle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3" name="Shape 149"/>
          <p:cNvSpPr/>
          <p:nvPr/>
        </p:nvSpPr>
        <p:spPr>
          <a:xfrm>
            <a:off x="10232136" y="26919936"/>
            <a:ext cx="4169664" cy="2569464"/>
          </a:xfrm>
          <a:prstGeom prst="roundRect">
            <a:avLst/>
          </a:prstGeom>
          <a:solidFill>
            <a:srgbClr val="E7F5EF"/>
          </a:solidFill>
          <a:ln w="12700">
            <a:solidFill>
              <a:srgbClr val="E7F5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4" name="Shape 150"/>
          <p:cNvSpPr/>
          <p:nvPr/>
        </p:nvSpPr>
        <p:spPr>
          <a:xfrm>
            <a:off x="10442448" y="27084528"/>
            <a:ext cx="6309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5" name="Text 151"/>
          <p:cNvSpPr/>
          <p:nvPr/>
        </p:nvSpPr>
        <p:spPr>
          <a:xfrm>
            <a:off x="10533888" y="27102816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D8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dirty="0"/>
          </a:p>
        </p:txBody>
      </p:sp>
      <p:sp>
        <p:nvSpPr>
          <p:cNvPr id="156" name="Text 152"/>
          <p:cNvSpPr/>
          <p:nvPr/>
        </p:nvSpPr>
        <p:spPr>
          <a:xfrm>
            <a:off x="10451592" y="275508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+ REPORT</a:t>
            </a:r>
            <a:endParaRPr lang="en-US" sz="2800" dirty="0"/>
          </a:p>
        </p:txBody>
      </p:sp>
      <p:sp>
        <p:nvSpPr>
          <p:cNvPr id="157" name="Text 153"/>
          <p:cNvSpPr/>
          <p:nvPr/>
        </p:nvSpPr>
        <p:spPr>
          <a:xfrm>
            <a:off x="10451592" y="28200096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topology + re-solve both models</a:t>
            </a:r>
            <a:endParaRPr lang="en-US" dirty="0"/>
          </a:p>
        </p:txBody>
      </p:sp>
      <p:sp>
        <p:nvSpPr>
          <p:cNvPr id="158" name="Shape 154"/>
          <p:cNvSpPr/>
          <p:nvPr/>
        </p:nvSpPr>
        <p:spPr>
          <a:xfrm>
            <a:off x="10433304" y="28949904"/>
            <a:ext cx="3749040" cy="0"/>
          </a:xfrm>
          <a:prstGeom prst="line">
            <a:avLst/>
          </a:prstGeom>
          <a:noFill/>
          <a:ln w="12700">
            <a:solidFill>
              <a:srgbClr val="D9E1E2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9" name="Text 155"/>
          <p:cNvSpPr/>
          <p:nvPr/>
        </p:nvSpPr>
        <p:spPr>
          <a:xfrm>
            <a:off x="10460736" y="290230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D8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NetworkX + AC/PDD</a:t>
            </a:r>
            <a:endParaRPr lang="en-US" dirty="0"/>
          </a:p>
        </p:txBody>
      </p:sp>
      <p:sp>
        <p:nvSpPr>
          <p:cNvPr id="160" name="Shape 156"/>
          <p:cNvSpPr/>
          <p:nvPr/>
        </p:nvSpPr>
        <p:spPr>
          <a:xfrm>
            <a:off x="749808" y="30330648"/>
            <a:ext cx="14255496" cy="7690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61" name="Shape 157"/>
          <p:cNvSpPr/>
          <p:nvPr/>
        </p:nvSpPr>
        <p:spPr>
          <a:xfrm>
            <a:off x="1024128" y="30659832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62" name="Text 158"/>
          <p:cNvSpPr/>
          <p:nvPr/>
        </p:nvSpPr>
        <p:spPr>
          <a:xfrm>
            <a:off x="1271016" y="30540960"/>
            <a:ext cx="1341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&amp; Independent Checks</a:t>
            </a:r>
            <a:endParaRPr lang="en-US" sz="3600" dirty="0"/>
          </a:p>
        </p:txBody>
      </p:sp>
      <p:sp>
        <p:nvSpPr>
          <p:cNvPr id="163" name="Shape 159"/>
          <p:cNvSpPr/>
          <p:nvPr/>
        </p:nvSpPr>
        <p:spPr>
          <a:xfrm>
            <a:off x="1280160" y="31245048"/>
            <a:ext cx="13194792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64" name="Text 160"/>
          <p:cNvSpPr/>
          <p:nvPr/>
        </p:nvSpPr>
        <p:spPr>
          <a:xfrm>
            <a:off x="13542264" y="30696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165" name="Text 161"/>
          <p:cNvSpPr/>
          <p:nvPr/>
        </p:nvSpPr>
        <p:spPr>
          <a:xfrm>
            <a:off x="1152144" y="31318200"/>
            <a:ext cx="1298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 /  PROPOSED CONSTRAINED RECOVERY</a:t>
            </a:r>
            <a:endParaRPr lang="en-US" dirty="0"/>
          </a:p>
        </p:txBody>
      </p:sp>
      <p:sp>
        <p:nvSpPr>
          <p:cNvPr id="166" name="Shape 162"/>
          <p:cNvSpPr/>
          <p:nvPr/>
        </p:nvSpPr>
        <p:spPr>
          <a:xfrm>
            <a:off x="1143000" y="31811976"/>
            <a:ext cx="13469112" cy="1938528"/>
          </a:xfrm>
          <a:prstGeom prst="roundRect">
            <a:avLst/>
          </a:prstGeom>
          <a:solidFill>
            <a:srgbClr val="E9F3F9"/>
          </a:solidFill>
          <a:ln w="12700">
            <a:solidFill>
              <a:srgbClr val="E9F3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67" name="Text 163"/>
          <p:cNvSpPr/>
          <p:nvPr/>
        </p:nvSpPr>
        <p:spPr>
          <a:xfrm>
            <a:off x="1399032" y="32077152"/>
            <a:ext cx="1294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J = α (1 − R_L/100) + β (1 − C/100) + γ (1 − WDS/100) + λ N_sw</a:t>
            </a:r>
            <a:endParaRPr lang="en-US" sz="3200" dirty="0"/>
          </a:p>
        </p:txBody>
      </p:sp>
      <p:sp>
        <p:nvSpPr>
          <p:cNvPr id="168" name="Text 164"/>
          <p:cNvSpPr/>
          <p:nvPr/>
        </p:nvSpPr>
        <p:spPr>
          <a:xfrm>
            <a:off x="1408176" y="32973264"/>
            <a:ext cx="1294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Service-loss penalties + switching effort; α, β, γ, λ are scenario-defined nonnegative weights.</a:t>
            </a:r>
            <a:endParaRPr lang="en-US" sz="2000" dirty="0"/>
          </a:p>
        </p:txBody>
      </p:sp>
      <p:sp>
        <p:nvSpPr>
          <p:cNvPr id="169" name="Text 165"/>
          <p:cNvSpPr/>
          <p:nvPr/>
        </p:nvSpPr>
        <p:spPr>
          <a:xfrm>
            <a:off x="1161288" y="33960816"/>
            <a:ext cx="1293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CONSTRAINTS  /  RE-SOLVE EACH CANDIDATE</a:t>
            </a:r>
            <a:endParaRPr lang="en-US" dirty="0"/>
          </a:p>
        </p:txBody>
      </p:sp>
      <p:sp>
        <p:nvSpPr>
          <p:cNvPr id="170" name="Shape 166"/>
          <p:cNvSpPr/>
          <p:nvPr/>
        </p:nvSpPr>
        <p:spPr>
          <a:xfrm>
            <a:off x="1152144" y="34472880"/>
            <a:ext cx="13450824" cy="685800"/>
          </a:xfrm>
          <a:prstGeom prst="roundRect">
            <a:avLst/>
          </a:prstGeom>
          <a:solidFill>
            <a:srgbClr val="EFF5F5"/>
          </a:solidFill>
          <a:ln w="12700">
            <a:solidFill>
              <a:srgbClr val="EF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71" name="Text 167"/>
          <p:cNvSpPr/>
          <p:nvPr/>
        </p:nvSpPr>
        <p:spPr>
          <a:xfrm>
            <a:off x="1344168" y="34591752"/>
            <a:ext cx="2889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</a:t>
            </a:r>
            <a:endParaRPr lang="en-US" dirty="0"/>
          </a:p>
        </p:txBody>
      </p:sp>
      <p:sp>
        <p:nvSpPr>
          <p:cNvPr id="172" name="Text 168"/>
          <p:cNvSpPr/>
          <p:nvPr/>
        </p:nvSpPr>
        <p:spPr>
          <a:xfrm>
            <a:off x="4206240" y="34564320"/>
            <a:ext cx="10360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V_min ≤ V_i ≤ V_max  (p.u.)     |     line loading ≤ 100%</a:t>
            </a:r>
            <a:endParaRPr lang="en-US" sz="2000" dirty="0"/>
          </a:p>
        </p:txBody>
      </p:sp>
      <p:sp>
        <p:nvSpPr>
          <p:cNvPr id="173" name="Shape 169"/>
          <p:cNvSpPr/>
          <p:nvPr/>
        </p:nvSpPr>
        <p:spPr>
          <a:xfrm>
            <a:off x="1152144" y="35314128"/>
            <a:ext cx="134508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74" name="Text 170"/>
          <p:cNvSpPr/>
          <p:nvPr/>
        </p:nvSpPr>
        <p:spPr>
          <a:xfrm>
            <a:off x="1344168" y="35433000"/>
            <a:ext cx="2889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HYDRAULIC</a:t>
            </a:r>
            <a:endParaRPr lang="en-US" dirty="0"/>
          </a:p>
        </p:txBody>
      </p:sp>
      <p:sp>
        <p:nvSpPr>
          <p:cNvPr id="175" name="Text 171"/>
          <p:cNvSpPr/>
          <p:nvPr/>
        </p:nvSpPr>
        <p:spPr>
          <a:xfrm>
            <a:off x="4206240" y="35405568"/>
            <a:ext cx="10360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h_j(t) ≥ h_req,j   (m)  at specified critical nodes</a:t>
            </a:r>
            <a:endParaRPr lang="en-US" sz="2000" dirty="0"/>
          </a:p>
        </p:txBody>
      </p:sp>
      <p:sp>
        <p:nvSpPr>
          <p:cNvPr id="176" name="Shape 172"/>
          <p:cNvSpPr/>
          <p:nvPr/>
        </p:nvSpPr>
        <p:spPr>
          <a:xfrm>
            <a:off x="1152144" y="36155376"/>
            <a:ext cx="13450824" cy="685800"/>
          </a:xfrm>
          <a:prstGeom prst="roundRect">
            <a:avLst/>
          </a:prstGeom>
          <a:solidFill>
            <a:srgbClr val="EFF5F5"/>
          </a:solidFill>
          <a:ln w="12700">
            <a:solidFill>
              <a:srgbClr val="EF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77" name="Text 173"/>
          <p:cNvSpPr/>
          <p:nvPr/>
        </p:nvSpPr>
        <p:spPr>
          <a:xfrm>
            <a:off x="1344168" y="36274248"/>
            <a:ext cx="2889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TOPOLOGY</a:t>
            </a:r>
            <a:endParaRPr lang="en-US" dirty="0"/>
          </a:p>
        </p:txBody>
      </p:sp>
      <p:sp>
        <p:nvSpPr>
          <p:cNvPr id="178" name="Text 174"/>
          <p:cNvSpPr/>
          <p:nvPr/>
        </p:nvSpPr>
        <p:spPr>
          <a:xfrm>
            <a:off x="4206240" y="36246816"/>
            <a:ext cx="10360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Faulted segment isolated; switching configuration feasible</a:t>
            </a:r>
            <a:endParaRPr lang="en-US" sz="2000" dirty="0"/>
          </a:p>
        </p:txBody>
      </p:sp>
      <p:sp>
        <p:nvSpPr>
          <p:cNvPr id="179" name="Shape 175"/>
          <p:cNvSpPr/>
          <p:nvPr/>
        </p:nvSpPr>
        <p:spPr>
          <a:xfrm>
            <a:off x="1152144" y="37124640"/>
            <a:ext cx="13450824" cy="576072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E6F5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80" name="Text 176"/>
          <p:cNvSpPr/>
          <p:nvPr/>
        </p:nvSpPr>
        <p:spPr>
          <a:xfrm>
            <a:off x="1408176" y="37252656"/>
            <a:ext cx="1292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CP-SAT proposes  •  NetworkX validates topology  •  pandapower + WNTR re-solve physics</a:t>
            </a:r>
            <a:endParaRPr lang="en-US" dirty="0"/>
          </a:p>
        </p:txBody>
      </p:sp>
      <p:sp>
        <p:nvSpPr>
          <p:cNvPr id="181" name="Shape 177"/>
          <p:cNvSpPr/>
          <p:nvPr/>
        </p:nvSpPr>
        <p:spPr>
          <a:xfrm>
            <a:off x="15288768" y="9098280"/>
            <a:ext cx="14255496" cy="8933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82" name="Shape 178"/>
          <p:cNvSpPr/>
          <p:nvPr/>
        </p:nvSpPr>
        <p:spPr>
          <a:xfrm>
            <a:off x="15572232" y="9445752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83" name="Text 179"/>
          <p:cNvSpPr/>
          <p:nvPr/>
        </p:nvSpPr>
        <p:spPr>
          <a:xfrm>
            <a:off x="15819120" y="9326880"/>
            <a:ext cx="13395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ENCIRRA Digital Twin</a:t>
            </a:r>
            <a:endParaRPr lang="en-US" sz="3600" dirty="0"/>
          </a:p>
        </p:txBody>
      </p:sp>
      <p:sp>
        <p:nvSpPr>
          <p:cNvPr id="184" name="Shape 180"/>
          <p:cNvSpPr/>
          <p:nvPr/>
        </p:nvSpPr>
        <p:spPr>
          <a:xfrm>
            <a:off x="15828264" y="10030968"/>
            <a:ext cx="13176504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85" name="Text 181"/>
          <p:cNvSpPr/>
          <p:nvPr/>
        </p:nvSpPr>
        <p:spPr>
          <a:xfrm>
            <a:off x="28072080" y="9482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00" dirty="0"/>
          </a:p>
        </p:txBody>
      </p:sp>
      <p:sp>
        <p:nvSpPr>
          <p:cNvPr id="186" name="Text 182"/>
          <p:cNvSpPr/>
          <p:nvPr/>
        </p:nvSpPr>
        <p:spPr>
          <a:xfrm>
            <a:off x="15691104" y="10122408"/>
            <a:ext cx="1298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VISUALIZING TWO INTERDEPENDENT NETWORKS</a:t>
            </a:r>
            <a:endParaRPr lang="en-US" dirty="0"/>
          </a:p>
        </p:txBody>
      </p:sp>
      <p:sp>
        <p:nvSpPr>
          <p:cNvPr id="187" name="Shape 183"/>
          <p:cNvSpPr/>
          <p:nvPr/>
        </p:nvSpPr>
        <p:spPr>
          <a:xfrm>
            <a:off x="15663672" y="10625328"/>
            <a:ext cx="13505688" cy="6163056"/>
          </a:xfrm>
          <a:prstGeom prst="roundRect">
            <a:avLst/>
          </a:prstGeom>
          <a:solidFill>
            <a:srgbClr val="D8E6E9"/>
          </a:solidFill>
          <a:ln w="12700">
            <a:solidFill>
              <a:srgbClr val="D8E6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pic>
        <p:nvPicPr>
          <p:cNvPr id="188" name="Image 2" descr="/mnt/data/encirra_smart_city_resilience_dashboard.png"/>
          <p:cNvPicPr>
            <a:picLocks noChangeAspect="1"/>
          </p:cNvPicPr>
          <p:nvPr/>
        </p:nvPicPr>
        <p:blipFill>
          <a:blip r:embed="rId9"/>
          <a:srcRect t="9921" b="9921"/>
          <a:stretch/>
        </p:blipFill>
        <p:spPr>
          <a:xfrm>
            <a:off x="15727680" y="10689336"/>
            <a:ext cx="13377672" cy="6035040"/>
          </a:xfrm>
          <a:prstGeom prst="rect">
            <a:avLst/>
          </a:prstGeom>
        </p:spPr>
      </p:pic>
      <p:sp>
        <p:nvSpPr>
          <p:cNvPr id="189" name="Shape 184"/>
          <p:cNvSpPr/>
          <p:nvPr/>
        </p:nvSpPr>
        <p:spPr>
          <a:xfrm>
            <a:off x="15654528" y="17181576"/>
            <a:ext cx="182880" cy="182880"/>
          </a:xfrm>
          <a:prstGeom prst="ellipse">
            <a:avLst/>
          </a:prstGeom>
          <a:solidFill>
            <a:srgbClr val="D86054"/>
          </a:solidFill>
          <a:ln w="12700">
            <a:solidFill>
              <a:srgbClr val="D860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90" name="Text 185"/>
          <p:cNvSpPr/>
          <p:nvPr/>
        </p:nvSpPr>
        <p:spPr>
          <a:xfrm>
            <a:off x="15956280" y="1709928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/ ISOLATED</a:t>
            </a:r>
            <a:endParaRPr lang="en-US" dirty="0"/>
          </a:p>
        </p:txBody>
      </p:sp>
      <p:sp>
        <p:nvSpPr>
          <p:cNvPr id="191" name="Shape 186"/>
          <p:cNvSpPr/>
          <p:nvPr/>
        </p:nvSpPr>
        <p:spPr>
          <a:xfrm>
            <a:off x="19952208" y="17181576"/>
            <a:ext cx="182880" cy="182880"/>
          </a:xfrm>
          <a:prstGeom prst="ellipse">
            <a:avLst/>
          </a:prstGeom>
          <a:solidFill>
            <a:srgbClr val="E6A443"/>
          </a:solidFill>
          <a:ln w="12700">
            <a:solidFill>
              <a:srgbClr val="E6A4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92" name="Text 187"/>
          <p:cNvSpPr/>
          <p:nvPr/>
        </p:nvSpPr>
        <p:spPr>
          <a:xfrm>
            <a:off x="20253960" y="1709928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ENERGIZED FEEDER</a:t>
            </a:r>
            <a:endParaRPr lang="en-US" dirty="0"/>
          </a:p>
        </p:txBody>
      </p:sp>
      <p:sp>
        <p:nvSpPr>
          <p:cNvPr id="193" name="Shape 188"/>
          <p:cNvSpPr/>
          <p:nvPr/>
        </p:nvSpPr>
        <p:spPr>
          <a:xfrm>
            <a:off x="24249888" y="17181576"/>
            <a:ext cx="182880" cy="182880"/>
          </a:xfrm>
          <a:prstGeom prst="ellipse">
            <a:avLst/>
          </a:prstGeom>
          <a:solidFill>
            <a:srgbClr val="39B7D0"/>
          </a:solidFill>
          <a:ln w="12700">
            <a:solidFill>
              <a:srgbClr val="39B7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94" name="Text 189"/>
          <p:cNvSpPr/>
          <p:nvPr/>
        </p:nvSpPr>
        <p:spPr>
          <a:xfrm>
            <a:off x="24551640" y="1709928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INFRASTRUCTURE</a:t>
            </a:r>
            <a:endParaRPr lang="en-US" dirty="0"/>
          </a:p>
        </p:txBody>
      </p:sp>
      <p:sp>
        <p:nvSpPr>
          <p:cNvPr id="195" name="Text 190"/>
          <p:cNvSpPr/>
          <p:nvPr/>
        </p:nvSpPr>
        <p:spPr>
          <a:xfrm>
            <a:off x="15736824" y="17574768"/>
            <a:ext cx="1339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i="1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2. Interactive 3D twin view: feeder state, pumping dependency and below-ground water infrastructure.</a:t>
            </a:r>
            <a:endParaRPr lang="en-US" dirty="0"/>
          </a:p>
        </p:txBody>
      </p:sp>
      <p:sp>
        <p:nvSpPr>
          <p:cNvPr id="196" name="Shape 191"/>
          <p:cNvSpPr/>
          <p:nvPr/>
        </p:nvSpPr>
        <p:spPr>
          <a:xfrm>
            <a:off x="15288768" y="18242280"/>
            <a:ext cx="14255496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97" name="Shape 192"/>
          <p:cNvSpPr/>
          <p:nvPr/>
        </p:nvSpPr>
        <p:spPr>
          <a:xfrm>
            <a:off x="15572232" y="18580608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98" name="Text 193"/>
          <p:cNvSpPr/>
          <p:nvPr/>
        </p:nvSpPr>
        <p:spPr>
          <a:xfrm>
            <a:off x="15819120" y="18461736"/>
            <a:ext cx="13395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Design</a:t>
            </a:r>
            <a:endParaRPr lang="en-US" sz="3600" dirty="0"/>
          </a:p>
        </p:txBody>
      </p:sp>
      <p:sp>
        <p:nvSpPr>
          <p:cNvPr id="199" name="Shape 194"/>
          <p:cNvSpPr/>
          <p:nvPr/>
        </p:nvSpPr>
        <p:spPr>
          <a:xfrm>
            <a:off x="15828264" y="19165824"/>
            <a:ext cx="13176504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0" name="Text 195"/>
          <p:cNvSpPr/>
          <p:nvPr/>
        </p:nvSpPr>
        <p:spPr>
          <a:xfrm>
            <a:off x="28072080" y="186171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00" dirty="0"/>
          </a:p>
        </p:txBody>
      </p:sp>
      <p:sp>
        <p:nvSpPr>
          <p:cNvPr id="201" name="Text 196"/>
          <p:cNvSpPr/>
          <p:nvPr/>
        </p:nvSpPr>
        <p:spPr>
          <a:xfrm>
            <a:off x="15691104" y="19238976"/>
            <a:ext cx="1298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SCENARIO  /  THREE RECOVERY POLICIES</a:t>
            </a:r>
            <a:endParaRPr lang="en-US" dirty="0"/>
          </a:p>
        </p:txBody>
      </p:sp>
      <p:sp>
        <p:nvSpPr>
          <p:cNvPr id="202" name="Shape 197"/>
          <p:cNvSpPr/>
          <p:nvPr/>
        </p:nvSpPr>
        <p:spPr>
          <a:xfrm>
            <a:off x="15681960" y="19769328"/>
            <a:ext cx="4306824" cy="2212848"/>
          </a:xfrm>
          <a:prstGeom prst="roundRect">
            <a:avLst/>
          </a:prstGeom>
          <a:solidFill>
            <a:srgbClr val="FFF0EC"/>
          </a:solidFill>
          <a:ln w="12700">
            <a:solidFill>
              <a:srgbClr val="FFF0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3" name="Shape 198"/>
          <p:cNvSpPr/>
          <p:nvPr/>
        </p:nvSpPr>
        <p:spPr>
          <a:xfrm>
            <a:off x="15873984" y="19970496"/>
            <a:ext cx="630936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4" name="Text 199"/>
          <p:cNvSpPr/>
          <p:nvPr/>
        </p:nvSpPr>
        <p:spPr>
          <a:xfrm>
            <a:off x="15965424" y="1998878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6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205" name="Text 200"/>
          <p:cNvSpPr/>
          <p:nvPr/>
        </p:nvSpPr>
        <p:spPr>
          <a:xfrm>
            <a:off x="15883128" y="20409408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ACTION</a:t>
            </a:r>
            <a:endParaRPr lang="en-US" sz="2800" dirty="0"/>
          </a:p>
        </p:txBody>
      </p:sp>
      <p:sp>
        <p:nvSpPr>
          <p:cNvPr id="206" name="Text 201"/>
          <p:cNvSpPr/>
          <p:nvPr/>
        </p:nvSpPr>
        <p:spPr>
          <a:xfrm>
            <a:off x="15883128" y="20985480"/>
            <a:ext cx="3776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remains; track the electrical and hydraulic consequences.</a:t>
            </a:r>
            <a:endParaRPr lang="en-US" dirty="0"/>
          </a:p>
        </p:txBody>
      </p:sp>
      <p:sp>
        <p:nvSpPr>
          <p:cNvPr id="207" name="Shape 202"/>
          <p:cNvSpPr/>
          <p:nvPr/>
        </p:nvSpPr>
        <p:spPr>
          <a:xfrm>
            <a:off x="20235672" y="19769328"/>
            <a:ext cx="4306824" cy="2212848"/>
          </a:xfrm>
          <a:prstGeom prst="roundRect">
            <a:avLst/>
          </a:prstGeom>
          <a:solidFill>
            <a:srgbClr val="FFF3DD"/>
          </a:solidFill>
          <a:ln w="12700">
            <a:solidFill>
              <a:srgbClr val="FFF3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8" name="Shape 203"/>
          <p:cNvSpPr/>
          <p:nvPr/>
        </p:nvSpPr>
        <p:spPr>
          <a:xfrm>
            <a:off x="20427696" y="19970496"/>
            <a:ext cx="630936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9" name="Text 204"/>
          <p:cNvSpPr/>
          <p:nvPr/>
        </p:nvSpPr>
        <p:spPr>
          <a:xfrm>
            <a:off x="20519136" y="1998878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F7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210" name="Text 205"/>
          <p:cNvSpPr/>
          <p:nvPr/>
        </p:nvSpPr>
        <p:spPr>
          <a:xfrm>
            <a:off x="20436840" y="20409408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GRID-ONLY</a:t>
            </a:r>
            <a:endParaRPr lang="en-US" sz="2800" dirty="0"/>
          </a:p>
        </p:txBody>
      </p:sp>
      <p:sp>
        <p:nvSpPr>
          <p:cNvPr id="211" name="Text 206"/>
          <p:cNvSpPr/>
          <p:nvPr/>
        </p:nvSpPr>
        <p:spPr>
          <a:xfrm>
            <a:off x="20436840" y="20985480"/>
            <a:ext cx="3776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feasible electrical load restoration.</a:t>
            </a:r>
            <a:endParaRPr lang="en-US" dirty="0"/>
          </a:p>
        </p:txBody>
      </p:sp>
      <p:sp>
        <p:nvSpPr>
          <p:cNvPr id="212" name="Shape 207"/>
          <p:cNvSpPr/>
          <p:nvPr/>
        </p:nvSpPr>
        <p:spPr>
          <a:xfrm>
            <a:off x="24789384" y="19769328"/>
            <a:ext cx="4306824" cy="2212848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E5F5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13" name="Shape 208"/>
          <p:cNvSpPr/>
          <p:nvPr/>
        </p:nvSpPr>
        <p:spPr>
          <a:xfrm>
            <a:off x="24981408" y="19970496"/>
            <a:ext cx="630936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14" name="Text 209"/>
          <p:cNvSpPr/>
          <p:nvPr/>
        </p:nvSpPr>
        <p:spPr>
          <a:xfrm>
            <a:off x="25072848" y="1998878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8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215" name="Text 210"/>
          <p:cNvSpPr/>
          <p:nvPr/>
        </p:nvSpPr>
        <p:spPr>
          <a:xfrm>
            <a:off x="24990552" y="20409408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ENCIRRA</a:t>
            </a:r>
            <a:endParaRPr lang="en-US" sz="2800" dirty="0"/>
          </a:p>
        </p:txBody>
      </p:sp>
      <p:sp>
        <p:nvSpPr>
          <p:cNvPr id="216" name="Text 211"/>
          <p:cNvSpPr/>
          <p:nvPr/>
        </p:nvSpPr>
        <p:spPr>
          <a:xfrm>
            <a:off x="24990552" y="20985480"/>
            <a:ext cx="3776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plans by coupled power–water service and verified feasibility.</a:t>
            </a:r>
            <a:endParaRPr lang="en-US" dirty="0"/>
          </a:p>
        </p:txBody>
      </p:sp>
      <p:sp>
        <p:nvSpPr>
          <p:cNvPr id="217" name="Shape 212"/>
          <p:cNvSpPr/>
          <p:nvPr/>
        </p:nvSpPr>
        <p:spPr>
          <a:xfrm>
            <a:off x="15681960" y="22210776"/>
            <a:ext cx="13469112" cy="749808"/>
          </a:xfrm>
          <a:prstGeom prst="roundRect">
            <a:avLst/>
          </a:prstGeom>
          <a:solidFill>
            <a:srgbClr val="EFF5F5"/>
          </a:solidFill>
          <a:ln w="12700">
            <a:solidFill>
              <a:srgbClr val="EF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18" name="Text 213"/>
          <p:cNvSpPr/>
          <p:nvPr/>
        </p:nvSpPr>
        <p:spPr>
          <a:xfrm>
            <a:off x="15910560" y="22311360"/>
            <a:ext cx="1297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case specification: feeder interruption → pump supply loss → critical-node head response. Identical scenario inputs for all policies.</a:t>
            </a:r>
            <a:endParaRPr lang="en-US" dirty="0"/>
          </a:p>
        </p:txBody>
      </p:sp>
      <p:sp>
        <p:nvSpPr>
          <p:cNvPr id="219" name="Shape 214"/>
          <p:cNvSpPr/>
          <p:nvPr/>
        </p:nvSpPr>
        <p:spPr>
          <a:xfrm>
            <a:off x="15288768" y="23518368"/>
            <a:ext cx="14255496" cy="10991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20" name="Shape 215"/>
          <p:cNvSpPr/>
          <p:nvPr/>
        </p:nvSpPr>
        <p:spPr>
          <a:xfrm>
            <a:off x="15572232" y="23829264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21" name="Text 216"/>
          <p:cNvSpPr/>
          <p:nvPr/>
        </p:nvSpPr>
        <p:spPr>
          <a:xfrm>
            <a:off x="15819120" y="23710392"/>
            <a:ext cx="13395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Indicators</a:t>
            </a:r>
            <a:endParaRPr lang="en-US" sz="3600" dirty="0"/>
          </a:p>
        </p:txBody>
      </p:sp>
      <p:sp>
        <p:nvSpPr>
          <p:cNvPr id="222" name="Shape 217"/>
          <p:cNvSpPr/>
          <p:nvPr/>
        </p:nvSpPr>
        <p:spPr>
          <a:xfrm>
            <a:off x="15828264" y="24414480"/>
            <a:ext cx="13176504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23" name="Text 218"/>
          <p:cNvSpPr/>
          <p:nvPr/>
        </p:nvSpPr>
        <p:spPr>
          <a:xfrm>
            <a:off x="28072080" y="23865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600" dirty="0"/>
          </a:p>
        </p:txBody>
      </p:sp>
      <p:sp>
        <p:nvSpPr>
          <p:cNvPr id="224" name="Text 219"/>
          <p:cNvSpPr/>
          <p:nvPr/>
        </p:nvSpPr>
        <p:spPr>
          <a:xfrm>
            <a:off x="15691104" y="24524208"/>
            <a:ext cx="1298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INDICATOR  •  EXACT DEFINITION  •  UNIT</a:t>
            </a:r>
            <a:endParaRPr lang="en-US" dirty="0"/>
          </a:p>
        </p:txBody>
      </p:sp>
      <p:sp>
        <p:nvSpPr>
          <p:cNvPr id="225" name="Shape 220"/>
          <p:cNvSpPr/>
          <p:nvPr/>
        </p:nvSpPr>
        <p:spPr>
          <a:xfrm>
            <a:off x="15681960" y="25017984"/>
            <a:ext cx="13469112" cy="694944"/>
          </a:xfrm>
          <a:prstGeom prst="roundRect">
            <a:avLst/>
          </a:prstGeom>
          <a:solidFill>
            <a:srgbClr val="0B2B43"/>
          </a:solidFill>
          <a:ln w="12700">
            <a:solidFill>
              <a:srgbClr val="0B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26" name="Text 221"/>
          <p:cNvSpPr/>
          <p:nvPr/>
        </p:nvSpPr>
        <p:spPr>
          <a:xfrm>
            <a:off x="15883128" y="2515514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INDICATOR</a:t>
            </a:r>
            <a:endParaRPr lang="en-US" sz="2000" dirty="0"/>
          </a:p>
        </p:txBody>
      </p:sp>
      <p:sp>
        <p:nvSpPr>
          <p:cNvPr id="227" name="Text 222"/>
          <p:cNvSpPr/>
          <p:nvPr/>
        </p:nvSpPr>
        <p:spPr>
          <a:xfrm>
            <a:off x="19824192" y="25155144"/>
            <a:ext cx="7653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 / MEASUREMENT</a:t>
            </a:r>
            <a:endParaRPr lang="en-US" sz="2000" dirty="0"/>
          </a:p>
        </p:txBody>
      </p:sp>
      <p:sp>
        <p:nvSpPr>
          <p:cNvPr id="228" name="Text 223"/>
          <p:cNvSpPr/>
          <p:nvPr/>
        </p:nvSpPr>
        <p:spPr>
          <a:xfrm>
            <a:off x="27660600" y="251551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</a:t>
            </a:r>
            <a:endParaRPr lang="en-US" sz="2000" dirty="0"/>
          </a:p>
        </p:txBody>
      </p:sp>
      <p:sp>
        <p:nvSpPr>
          <p:cNvPr id="229" name="Shape 224"/>
          <p:cNvSpPr/>
          <p:nvPr/>
        </p:nvSpPr>
        <p:spPr>
          <a:xfrm>
            <a:off x="15681960" y="25758648"/>
            <a:ext cx="13469112" cy="950976"/>
          </a:xfrm>
          <a:prstGeom prst="roundRect">
            <a:avLst/>
          </a:prstGeom>
          <a:solidFill>
            <a:srgbClr val="EFF6F8"/>
          </a:solidFill>
          <a:ln w="12700">
            <a:solidFill>
              <a:srgbClr val="EF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30" name="Text 225"/>
          <p:cNvSpPr/>
          <p:nvPr/>
        </p:nvSpPr>
        <p:spPr>
          <a:xfrm>
            <a:off x="15873984" y="2596896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restored</a:t>
            </a:r>
            <a:endParaRPr lang="en-US" sz="2000" dirty="0"/>
          </a:p>
        </p:txBody>
      </p:sp>
      <p:sp>
        <p:nvSpPr>
          <p:cNvPr id="231" name="Text 226"/>
          <p:cNvSpPr/>
          <p:nvPr/>
        </p:nvSpPr>
        <p:spPr>
          <a:xfrm>
            <a:off x="19796760" y="25923240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R_L = 100 (P_post − P_fault) / (P_pre − P_fault)</a:t>
            </a:r>
            <a:endParaRPr lang="en-US" sz="2000" dirty="0"/>
          </a:p>
        </p:txBody>
      </p:sp>
      <p:sp>
        <p:nvSpPr>
          <p:cNvPr id="232" name="Text 227"/>
          <p:cNvSpPr/>
          <p:nvPr/>
        </p:nvSpPr>
        <p:spPr>
          <a:xfrm>
            <a:off x="27688032" y="259781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2000" dirty="0"/>
          </a:p>
        </p:txBody>
      </p:sp>
      <p:sp>
        <p:nvSpPr>
          <p:cNvPr id="233" name="Shape 228"/>
          <p:cNvSpPr/>
          <p:nvPr/>
        </p:nvSpPr>
        <p:spPr>
          <a:xfrm>
            <a:off x="15681960" y="26769060"/>
            <a:ext cx="1346911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34" name="Text 229"/>
          <p:cNvSpPr/>
          <p:nvPr/>
        </p:nvSpPr>
        <p:spPr>
          <a:xfrm>
            <a:off x="15873984" y="26979372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demand served</a:t>
            </a:r>
            <a:endParaRPr lang="en-US" sz="2000" dirty="0"/>
          </a:p>
        </p:txBody>
      </p:sp>
      <p:sp>
        <p:nvSpPr>
          <p:cNvPr id="235" name="Text 230"/>
          <p:cNvSpPr/>
          <p:nvPr/>
        </p:nvSpPr>
        <p:spPr>
          <a:xfrm>
            <a:off x="19796760" y="269336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WDS = 100 Σq_del,j / Σq_req,j</a:t>
            </a:r>
            <a:endParaRPr lang="en-US" sz="2000" dirty="0"/>
          </a:p>
        </p:txBody>
      </p:sp>
      <p:sp>
        <p:nvSpPr>
          <p:cNvPr id="236" name="Text 231"/>
          <p:cNvSpPr/>
          <p:nvPr/>
        </p:nvSpPr>
        <p:spPr>
          <a:xfrm>
            <a:off x="27688032" y="269885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2000" dirty="0"/>
          </a:p>
        </p:txBody>
      </p:sp>
      <p:sp>
        <p:nvSpPr>
          <p:cNvPr id="237" name="Shape 232"/>
          <p:cNvSpPr/>
          <p:nvPr/>
        </p:nvSpPr>
        <p:spPr>
          <a:xfrm>
            <a:off x="15681960" y="27779472"/>
            <a:ext cx="13469112" cy="950976"/>
          </a:xfrm>
          <a:prstGeom prst="roundRect">
            <a:avLst/>
          </a:prstGeom>
          <a:solidFill>
            <a:srgbClr val="EFF6F8"/>
          </a:solidFill>
          <a:ln w="12700">
            <a:solidFill>
              <a:srgbClr val="EF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38" name="Text 233"/>
          <p:cNvSpPr/>
          <p:nvPr/>
        </p:nvSpPr>
        <p:spPr>
          <a:xfrm>
            <a:off x="15873984" y="27989784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coverage</a:t>
            </a:r>
            <a:endParaRPr lang="en-US" sz="2000" dirty="0"/>
          </a:p>
        </p:txBody>
      </p:sp>
      <p:sp>
        <p:nvSpPr>
          <p:cNvPr id="239" name="Text 234"/>
          <p:cNvSpPr/>
          <p:nvPr/>
        </p:nvSpPr>
        <p:spPr>
          <a:xfrm>
            <a:off x="19796760" y="27944064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= 100 Σ(w_k I_k^P I_k^W) / Σw_k</a:t>
            </a:r>
            <a:endParaRPr lang="en-US" sz="2000" dirty="0"/>
          </a:p>
        </p:txBody>
      </p:sp>
      <p:sp>
        <p:nvSpPr>
          <p:cNvPr id="240" name="Text 235"/>
          <p:cNvSpPr/>
          <p:nvPr/>
        </p:nvSpPr>
        <p:spPr>
          <a:xfrm>
            <a:off x="27688032" y="279989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2000" dirty="0"/>
          </a:p>
        </p:txBody>
      </p:sp>
      <p:sp>
        <p:nvSpPr>
          <p:cNvPr id="241" name="Shape 236"/>
          <p:cNvSpPr/>
          <p:nvPr/>
        </p:nvSpPr>
        <p:spPr>
          <a:xfrm>
            <a:off x="15681960" y="28789884"/>
            <a:ext cx="1346911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42" name="Text 237"/>
          <p:cNvSpPr/>
          <p:nvPr/>
        </p:nvSpPr>
        <p:spPr>
          <a:xfrm>
            <a:off x="15873984" y="29000196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pressure head</a:t>
            </a:r>
            <a:endParaRPr lang="en-US" sz="2000" dirty="0"/>
          </a:p>
        </p:txBody>
      </p:sp>
      <p:sp>
        <p:nvSpPr>
          <p:cNvPr id="243" name="Text 238"/>
          <p:cNvSpPr/>
          <p:nvPr/>
        </p:nvSpPr>
        <p:spPr>
          <a:xfrm>
            <a:off x="19796760" y="28954476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h_min(t) = min_j [H_j(t) − z_j]</a:t>
            </a:r>
            <a:endParaRPr lang="en-US" sz="2000" dirty="0"/>
          </a:p>
        </p:txBody>
      </p:sp>
      <p:sp>
        <p:nvSpPr>
          <p:cNvPr id="244" name="Text 239"/>
          <p:cNvSpPr/>
          <p:nvPr/>
        </p:nvSpPr>
        <p:spPr>
          <a:xfrm>
            <a:off x="27688032" y="290093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000" dirty="0"/>
          </a:p>
        </p:txBody>
      </p:sp>
      <p:sp>
        <p:nvSpPr>
          <p:cNvPr id="245" name="Shape 240"/>
          <p:cNvSpPr/>
          <p:nvPr/>
        </p:nvSpPr>
        <p:spPr>
          <a:xfrm>
            <a:off x="15681960" y="29800296"/>
            <a:ext cx="13469112" cy="950976"/>
          </a:xfrm>
          <a:prstGeom prst="roundRect">
            <a:avLst/>
          </a:prstGeom>
          <a:solidFill>
            <a:srgbClr val="EFF6F8"/>
          </a:solidFill>
          <a:ln w="12700">
            <a:solidFill>
              <a:srgbClr val="EF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46" name="Text 241"/>
          <p:cNvSpPr/>
          <p:nvPr/>
        </p:nvSpPr>
        <p:spPr>
          <a:xfrm>
            <a:off x="15873984" y="30010608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recovery time</a:t>
            </a:r>
            <a:endParaRPr lang="en-US" sz="2000" dirty="0"/>
          </a:p>
        </p:txBody>
      </p:sp>
      <p:sp>
        <p:nvSpPr>
          <p:cNvPr id="247" name="Text 242"/>
          <p:cNvSpPr/>
          <p:nvPr/>
        </p:nvSpPr>
        <p:spPr>
          <a:xfrm>
            <a:off x="19796760" y="29964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T_rec = t_stable(h ≥ h_req) − t_fault</a:t>
            </a:r>
            <a:endParaRPr lang="en-US" sz="2000" dirty="0"/>
          </a:p>
        </p:txBody>
      </p:sp>
      <p:sp>
        <p:nvSpPr>
          <p:cNvPr id="248" name="Text 243"/>
          <p:cNvSpPr/>
          <p:nvPr/>
        </p:nvSpPr>
        <p:spPr>
          <a:xfrm>
            <a:off x="27688032" y="3001975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endParaRPr lang="en-US" sz="2000" dirty="0"/>
          </a:p>
        </p:txBody>
      </p:sp>
      <p:sp>
        <p:nvSpPr>
          <p:cNvPr id="249" name="Shape 244"/>
          <p:cNvSpPr/>
          <p:nvPr/>
        </p:nvSpPr>
        <p:spPr>
          <a:xfrm>
            <a:off x="15681960" y="30810708"/>
            <a:ext cx="1346911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50" name="Text 245"/>
          <p:cNvSpPr/>
          <p:nvPr/>
        </p:nvSpPr>
        <p:spPr>
          <a:xfrm>
            <a:off x="15873984" y="3102102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violations</a:t>
            </a:r>
            <a:endParaRPr lang="en-US" sz="2000" dirty="0"/>
          </a:p>
        </p:txBody>
      </p:sp>
      <p:sp>
        <p:nvSpPr>
          <p:cNvPr id="251" name="Text 246"/>
          <p:cNvSpPr/>
          <p:nvPr/>
        </p:nvSpPr>
        <p:spPr>
          <a:xfrm>
            <a:off x="19796760" y="30975300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N_viol = Σ 1[constraint violated]</a:t>
            </a:r>
            <a:endParaRPr lang="en-US" sz="2000" dirty="0"/>
          </a:p>
        </p:txBody>
      </p:sp>
      <p:sp>
        <p:nvSpPr>
          <p:cNvPr id="252" name="Text 247"/>
          <p:cNvSpPr/>
          <p:nvPr/>
        </p:nvSpPr>
        <p:spPr>
          <a:xfrm>
            <a:off x="27688032" y="310301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</a:t>
            </a:r>
            <a:endParaRPr lang="en-US" sz="2000" dirty="0"/>
          </a:p>
        </p:txBody>
      </p:sp>
      <p:sp>
        <p:nvSpPr>
          <p:cNvPr id="253" name="Shape 248"/>
          <p:cNvSpPr/>
          <p:nvPr/>
        </p:nvSpPr>
        <p:spPr>
          <a:xfrm>
            <a:off x="15681960" y="31821120"/>
            <a:ext cx="13469112" cy="950976"/>
          </a:xfrm>
          <a:prstGeom prst="roundRect">
            <a:avLst/>
          </a:prstGeom>
          <a:solidFill>
            <a:srgbClr val="EFF6F8"/>
          </a:solidFill>
          <a:ln w="12700">
            <a:solidFill>
              <a:srgbClr val="EF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54" name="Text 249"/>
          <p:cNvSpPr/>
          <p:nvPr/>
        </p:nvSpPr>
        <p:spPr>
          <a:xfrm>
            <a:off x="15873984" y="32031432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operations</a:t>
            </a:r>
            <a:endParaRPr lang="en-US" sz="2000" dirty="0"/>
          </a:p>
        </p:txBody>
      </p:sp>
      <p:sp>
        <p:nvSpPr>
          <p:cNvPr id="255" name="Text 250"/>
          <p:cNvSpPr/>
          <p:nvPr/>
        </p:nvSpPr>
        <p:spPr>
          <a:xfrm>
            <a:off x="19796760" y="3198571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N_sw = Σ |s_e,post − s_e,fault|</a:t>
            </a:r>
            <a:endParaRPr lang="en-US" sz="2000" dirty="0"/>
          </a:p>
        </p:txBody>
      </p:sp>
      <p:sp>
        <p:nvSpPr>
          <p:cNvPr id="256" name="Text 251"/>
          <p:cNvSpPr/>
          <p:nvPr/>
        </p:nvSpPr>
        <p:spPr>
          <a:xfrm>
            <a:off x="27688032" y="320405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2000" dirty="0"/>
          </a:p>
        </p:txBody>
      </p:sp>
      <p:sp>
        <p:nvSpPr>
          <p:cNvPr id="257" name="Shape 252"/>
          <p:cNvSpPr/>
          <p:nvPr/>
        </p:nvSpPr>
        <p:spPr>
          <a:xfrm>
            <a:off x="15681960" y="33073848"/>
            <a:ext cx="13469112" cy="877824"/>
          </a:xfrm>
          <a:prstGeom prst="roundRect">
            <a:avLst/>
          </a:prstGeom>
          <a:solidFill>
            <a:srgbClr val="E6F5F2"/>
          </a:solidFill>
          <a:ln w="12700">
            <a:solidFill>
              <a:srgbClr val="E6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58" name="Text 253"/>
          <p:cNvSpPr/>
          <p:nvPr/>
        </p:nvSpPr>
        <p:spPr>
          <a:xfrm>
            <a:off x="15901416" y="33183576"/>
            <a:ext cx="1302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P: served power [kW]  •  q: delivered/required flow [m³/h]  •  H,z,h: hydraulic head/elevation/pressure head [m]  •  I: binary compliance  •  w: criticality weight</a:t>
            </a:r>
            <a:endParaRPr lang="en-US" dirty="0"/>
          </a:p>
        </p:txBody>
      </p:sp>
      <p:sp>
        <p:nvSpPr>
          <p:cNvPr id="259" name="Shape 254"/>
          <p:cNvSpPr/>
          <p:nvPr/>
        </p:nvSpPr>
        <p:spPr>
          <a:xfrm>
            <a:off x="15288768" y="34728912"/>
            <a:ext cx="14255496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0" name="Shape 255"/>
          <p:cNvSpPr/>
          <p:nvPr/>
        </p:nvSpPr>
        <p:spPr>
          <a:xfrm>
            <a:off x="15572232" y="35030664"/>
            <a:ext cx="96012" cy="493776"/>
          </a:xfrm>
          <a:prstGeom prst="roundRect">
            <a:avLst/>
          </a:prstGeom>
          <a:solidFill>
            <a:srgbClr val="087E86"/>
          </a:solidFill>
          <a:ln w="12700">
            <a:solidFill>
              <a:srgbClr val="087E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1" name="Text 256"/>
          <p:cNvSpPr/>
          <p:nvPr/>
        </p:nvSpPr>
        <p:spPr>
          <a:xfrm>
            <a:off x="15819120" y="34911792"/>
            <a:ext cx="13395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Research Status</a:t>
            </a:r>
            <a:endParaRPr lang="en-US" sz="3600" dirty="0"/>
          </a:p>
        </p:txBody>
      </p:sp>
      <p:sp>
        <p:nvSpPr>
          <p:cNvPr id="262" name="Shape 257"/>
          <p:cNvSpPr/>
          <p:nvPr/>
        </p:nvSpPr>
        <p:spPr>
          <a:xfrm>
            <a:off x="15828264" y="35615880"/>
            <a:ext cx="13176504" cy="0"/>
          </a:xfrm>
          <a:prstGeom prst="line">
            <a:avLst/>
          </a:prstGeom>
          <a:noFill/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3" name="Text 258"/>
          <p:cNvSpPr/>
          <p:nvPr/>
        </p:nvSpPr>
        <p:spPr>
          <a:xfrm>
            <a:off x="28072080" y="35067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600" dirty="0"/>
          </a:p>
        </p:txBody>
      </p:sp>
      <p:sp>
        <p:nvSpPr>
          <p:cNvPr id="264" name="Shape 259"/>
          <p:cNvSpPr/>
          <p:nvPr/>
        </p:nvSpPr>
        <p:spPr>
          <a:xfrm>
            <a:off x="15681960" y="35881056"/>
            <a:ext cx="6144768" cy="1389888"/>
          </a:xfrm>
          <a:prstGeom prst="roundRect">
            <a:avLst/>
          </a:prstGeom>
          <a:solidFill>
            <a:srgbClr val="E6F5F2"/>
          </a:solidFill>
          <a:ln w="12700">
            <a:solidFill>
              <a:srgbClr val="E6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5" name="Text 260"/>
          <p:cNvSpPr/>
          <p:nvPr/>
        </p:nvSpPr>
        <p:spPr>
          <a:xfrm>
            <a:off x="15919704" y="36063936"/>
            <a:ext cx="564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</a:t>
            </a:r>
            <a:endParaRPr lang="en-US" sz="2000" dirty="0"/>
          </a:p>
        </p:txBody>
      </p:sp>
      <p:sp>
        <p:nvSpPr>
          <p:cNvPr id="266" name="Text 261"/>
          <p:cNvSpPr/>
          <p:nvPr/>
        </p:nvSpPr>
        <p:spPr>
          <a:xfrm>
            <a:off x="15919704" y="3646627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3D twin</a:t>
            </a:r>
            <a:endParaRPr lang="en-US" sz="2800" dirty="0"/>
          </a:p>
        </p:txBody>
      </p:sp>
      <p:sp>
        <p:nvSpPr>
          <p:cNvPr id="267" name="Shape 262"/>
          <p:cNvSpPr/>
          <p:nvPr/>
        </p:nvSpPr>
        <p:spPr>
          <a:xfrm>
            <a:off x="21963888" y="35881056"/>
            <a:ext cx="7159752" cy="1389888"/>
          </a:xfrm>
          <a:prstGeom prst="roundRect">
            <a:avLst/>
          </a:prstGeom>
          <a:solidFill>
            <a:srgbClr val="FFF3DD"/>
          </a:solidFill>
          <a:ln w="12700">
            <a:solidFill>
              <a:srgbClr val="FFF3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8" name="Text 263"/>
          <p:cNvSpPr/>
          <p:nvPr/>
        </p:nvSpPr>
        <p:spPr>
          <a:xfrm>
            <a:off x="22201632" y="36063936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96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 VALIDATION</a:t>
            </a:r>
            <a:endParaRPr lang="en-US" sz="2000" dirty="0"/>
          </a:p>
        </p:txBody>
      </p:sp>
      <p:sp>
        <p:nvSpPr>
          <p:cNvPr id="269" name="Text 264"/>
          <p:cNvSpPr/>
          <p:nvPr/>
        </p:nvSpPr>
        <p:spPr>
          <a:xfrm>
            <a:off x="22201632" y="36466272"/>
            <a:ext cx="6656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Full-scale scenario benchmarks</a:t>
            </a:r>
            <a:endParaRPr lang="en-US" sz="2800" dirty="0"/>
          </a:p>
        </p:txBody>
      </p:sp>
      <p:sp>
        <p:nvSpPr>
          <p:cNvPr id="270" name="Text 265"/>
          <p:cNvSpPr/>
          <p:nvPr/>
        </p:nvSpPr>
        <p:spPr>
          <a:xfrm>
            <a:off x="15718536" y="37508688"/>
            <a:ext cx="1343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i="1" dirty="0">
                <a:solidFill>
                  <a:srgbClr val="4C6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unverified restoration percentages or recovery-time values are presented.</a:t>
            </a:r>
            <a:endParaRPr lang="en-US" dirty="0"/>
          </a:p>
        </p:txBody>
      </p:sp>
      <p:sp>
        <p:nvSpPr>
          <p:cNvPr id="271" name="Shape 266"/>
          <p:cNvSpPr/>
          <p:nvPr/>
        </p:nvSpPr>
        <p:spPr>
          <a:xfrm>
            <a:off x="749808" y="38249352"/>
            <a:ext cx="28794456" cy="1600200"/>
          </a:xfrm>
          <a:prstGeom prst="roundRect">
            <a:avLst/>
          </a:prstGeom>
          <a:solidFill>
            <a:srgbClr val="0B2B43"/>
          </a:solidFill>
          <a:ln w="12700">
            <a:solidFill>
              <a:srgbClr val="0B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72" name="Shape 267"/>
          <p:cNvSpPr/>
          <p:nvPr/>
        </p:nvSpPr>
        <p:spPr>
          <a:xfrm>
            <a:off x="1051560" y="38514528"/>
            <a:ext cx="3255264" cy="475488"/>
          </a:xfrm>
          <a:prstGeom prst="roundRect">
            <a:avLst/>
          </a:prstGeom>
          <a:solidFill>
            <a:srgbClr val="25566A"/>
          </a:solidFill>
          <a:ln w="12700">
            <a:solidFill>
              <a:srgbClr val="255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73" name="Text 268"/>
          <p:cNvSpPr/>
          <p:nvPr/>
        </p:nvSpPr>
        <p:spPr>
          <a:xfrm>
            <a:off x="1143000" y="38532816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5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  <a:endParaRPr lang="en-US" sz="2000" dirty="0"/>
          </a:p>
        </p:txBody>
      </p:sp>
      <p:sp>
        <p:nvSpPr>
          <p:cNvPr id="274" name="Text 269"/>
          <p:cNvSpPr/>
          <p:nvPr/>
        </p:nvSpPr>
        <p:spPr>
          <a:xfrm>
            <a:off x="4535424" y="38441376"/>
            <a:ext cx="23673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grid-safe recovery is not necessarily a water-safe recovery.</a:t>
            </a:r>
            <a:endParaRPr lang="en-US" sz="3200" dirty="0"/>
          </a:p>
        </p:txBody>
      </p:sp>
      <p:sp>
        <p:nvSpPr>
          <p:cNvPr id="275" name="Text 270"/>
          <p:cNvSpPr/>
          <p:nvPr/>
        </p:nvSpPr>
        <p:spPr>
          <a:xfrm>
            <a:off x="4562856" y="39108888"/>
            <a:ext cx="2382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DE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Encirra links dependency modeling, constrained switching decisions and independent dual-network checks.</a:t>
            </a:r>
            <a:endParaRPr lang="en-US" sz="2400" dirty="0"/>
          </a:p>
        </p:txBody>
      </p:sp>
      <p:sp>
        <p:nvSpPr>
          <p:cNvPr id="276" name="Shape 271"/>
          <p:cNvSpPr/>
          <p:nvPr/>
        </p:nvSpPr>
        <p:spPr>
          <a:xfrm>
            <a:off x="749808" y="40014144"/>
            <a:ext cx="28794456" cy="2020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77" name="Text 272"/>
          <p:cNvSpPr/>
          <p:nvPr/>
        </p:nvSpPr>
        <p:spPr>
          <a:xfrm>
            <a:off x="1051560" y="40242744"/>
            <a:ext cx="1225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087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&amp; CONTACT</a:t>
            </a:r>
            <a:endParaRPr lang="en-US" dirty="0"/>
          </a:p>
        </p:txBody>
      </p:sp>
      <p:sp>
        <p:nvSpPr>
          <p:cNvPr id="278" name="Text 273"/>
          <p:cNvSpPr/>
          <p:nvPr/>
        </p:nvSpPr>
        <p:spPr>
          <a:xfrm>
            <a:off x="1051560" y="40782240"/>
            <a:ext cx="1965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pandapower: pandapower.readthedocs.io   [2] EPA WNTR: usepa.github.io/WNTR/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163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EPA EPANET: epa.gov/water-research/epanet   [4] OR-Tools: developers.google.com/optimization</a:t>
            </a:r>
            <a:endParaRPr lang="en-US" dirty="0"/>
          </a:p>
        </p:txBody>
      </p:sp>
      <p:sp>
        <p:nvSpPr>
          <p:cNvPr id="279" name="Text 274"/>
          <p:cNvSpPr/>
          <p:nvPr/>
        </p:nvSpPr>
        <p:spPr>
          <a:xfrm>
            <a:off x="22311360" y="40389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b="1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TO EXPLORE ENCIRRA</a:t>
            </a:r>
            <a:endParaRPr lang="en-US" dirty="0"/>
          </a:p>
        </p:txBody>
      </p:sp>
      <p:sp>
        <p:nvSpPr>
          <p:cNvPr id="280" name="Text 275">
            <a:hlinkClick r:id="rId10"/>
          </p:cNvPr>
          <p:cNvSpPr/>
          <p:nvPr/>
        </p:nvSpPr>
        <p:spPr>
          <a:xfrm>
            <a:off x="21963888" y="40928544"/>
            <a:ext cx="5212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u="sng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encirra.kanbanstudios.ae</a:t>
            </a:r>
            <a:endParaRPr lang="en-US" dirty="0"/>
          </a:p>
        </p:txBody>
      </p:sp>
      <p:pic>
        <p:nvPicPr>
          <p:cNvPr id="281" name="Image 3" descr="/mnt/data/encirra_final_work/assets/encirra_site_q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340560" y="40187880"/>
            <a:ext cx="1719072" cy="1719072"/>
          </a:xfrm>
          <a:prstGeom prst="rect">
            <a:avLst/>
          </a:prstGeom>
        </p:spPr>
      </p:pic>
      <p:sp>
        <p:nvSpPr>
          <p:cNvPr id="282" name="Shape 276"/>
          <p:cNvSpPr/>
          <p:nvPr/>
        </p:nvSpPr>
        <p:spPr>
          <a:xfrm>
            <a:off x="0" y="42181272"/>
            <a:ext cx="30275784" cy="621792"/>
          </a:xfrm>
          <a:prstGeom prst="rect">
            <a:avLst/>
          </a:prstGeom>
          <a:solidFill>
            <a:srgbClr val="E6F5F2"/>
          </a:solidFill>
          <a:ln w="12700">
            <a:solidFill>
              <a:srgbClr val="E6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 sz="2400"/>
          </a:p>
        </p:txBody>
      </p:sp>
      <p:pic>
        <p:nvPicPr>
          <p:cNvPr id="283" name="Image 4" descr="/mnt/data/encirra_final_work/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2277317"/>
            <a:ext cx="521208" cy="402270"/>
          </a:xfrm>
          <a:prstGeom prst="rect">
            <a:avLst/>
          </a:prstGeom>
        </p:spPr>
      </p:pic>
      <p:sp>
        <p:nvSpPr>
          <p:cNvPr id="284" name="Text 277"/>
          <p:cNvSpPr/>
          <p:nvPr/>
        </p:nvSpPr>
        <p:spPr>
          <a:xfrm>
            <a:off x="1444752" y="42309288"/>
            <a:ext cx="2167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NEECON  •  Dubai, UAE  •  Undergraduate Innovation Challenge</a:t>
            </a:r>
            <a:endParaRPr lang="en-US" dirty="0"/>
          </a:p>
        </p:txBody>
      </p:sp>
      <p:sp>
        <p:nvSpPr>
          <p:cNvPr id="285" name="Text 278">
            <a:hlinkClick r:id="rId12"/>
          </p:cNvPr>
          <p:cNvSpPr/>
          <p:nvPr/>
        </p:nvSpPr>
        <p:spPr>
          <a:xfrm>
            <a:off x="23262336" y="423001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u="sng" dirty="0">
                <a:solidFill>
                  <a:srgbClr val="006975"/>
                </a:solidFill>
                <a:uFill>
                  <a:solidFill>
                    <a:srgbClr val="006975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Built by Team Kanban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1016</Words>
  <Application>Microsoft Office PowerPoint</Application>
  <PresentationFormat>Custom</PresentationFormat>
  <Paragraphs>162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Inter</vt:lpstr>
      <vt:lpstr>Office Theme</vt:lpstr>
      <vt:lpstr>PowerPoint Presentation</vt:lpstr>
    </vt:vector>
  </TitlesOfParts>
  <Company>Team Kanban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ENCIRRA | NEECON 2026 scientific poster</dc:title>
  <dc:subject>Encirra - coupled electricity and water resilience twin</dc:subject>
  <dc:creator>Team Kanban</dc:creator>
  <cp:lastModifiedBy>Awaiz Ahmed</cp:lastModifiedBy>
  <cp:revision>2</cp:revision>
  <dcterms:created xsi:type="dcterms:W3CDTF">2026-10-22T18:59:45Z</dcterms:created>
  <dcterms:modified xsi:type="dcterms:W3CDTF">2026-10-22T19:52:08Z</dcterms:modified>
</cp:coreProperties>
</file>